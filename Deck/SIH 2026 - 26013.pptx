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365" r:id="rId2"/>
    <p:sldId id="366" r:id="rId3"/>
    <p:sldId id="367" r:id="rId4"/>
    <p:sldId id="374" r:id="rId5"/>
    <p:sldId id="369" r:id="rId6"/>
    <p:sldId id="370" r:id="rId7"/>
    <p:sldId id="371" r:id="rId8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Garamond Bold" panose="02020804030307010803" pitchFamily="18" charset="0"/>
      <p:regular r:id="rId12"/>
      <p:bold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6" autoAdjust="0"/>
    <p:restoredTop sz="94590" autoAdjust="0"/>
  </p:normalViewPr>
  <p:slideViewPr>
    <p:cSldViewPr>
      <p:cViewPr varScale="1">
        <p:scale>
          <a:sx n="79" d="100"/>
          <a:sy n="79" d="100"/>
        </p:scale>
        <p:origin x="280" y="10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Market Size</c:v>
          </c:tx>
          <c:spPr>
            <a:solidFill>
              <a:srgbClr val="1A4FA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C6D8F2"/>
              </a:solidFill>
            </c:spPr>
            <c:extLst>
              <c:ext xmlns:c16="http://schemas.microsoft.com/office/drawing/2014/chart" uri="{C3380CC4-5D6E-409C-BE32-E72D297353CC}">
                <c16:uniqueId val="{00000001-4806-3649-8A3C-35B7CC0A64F8}"/>
              </c:ext>
            </c:extLst>
          </c:dPt>
          <c:dLbls>
            <c:numFmt formatCode="&quot;₹&quot;0.00" sourceLinked="0"/>
            <c:spPr>
              <a:noFill/>
            </c:spPr>
            <c:txPr>
              <a:bodyPr/>
              <a:lstStyle/>
              <a:p>
                <a:pPr>
                  <a:defRPr sz="1200" b="1">
                    <a:solidFill>
                      <a:srgbClr val="0F2A6B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2024</c:v>
              </c:pt>
              <c:pt idx="1">
                <c:v>2033</c:v>
              </c:pt>
            </c:strLit>
          </c:cat>
          <c:val>
            <c:numLit>
              <c:formatCode>General</c:formatCode>
              <c:ptCount val="2"/>
              <c:pt idx="0">
                <c:v>1.77</c:v>
              </c:pt>
              <c:pt idx="1">
                <c:v>4.5199999999999996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806-3649-8A3C-35B7CC0A64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9C6DA"/>
            </a:solidFill>
          </a:ln>
        </c:spPr>
        <c:txPr>
          <a:bodyPr/>
          <a:lstStyle/>
          <a:p>
            <a:pPr>
              <a:defRPr sz="1200">
                <a:solidFill>
                  <a:srgbClr val="46536E"/>
                </a:solidFill>
                <a:latin typeface="Segoe UI"/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majorGridlines>
          <c:spPr>
            <a:ln>
              <a:solidFill>
                <a:srgbClr val="EDF1F7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>
                    <a:solidFill>
                      <a:srgbClr val="46536E"/>
                    </a:solidFill>
                    <a:latin typeface="Segoe UI"/>
                  </a:defRPr>
                </a:pPr>
                <a:r>
                  <a:rPr lang="en-US" sz="1100"/>
                  <a:t>Market Size (₹ Lakh Crore)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6536E"/>
                </a:solidFill>
                <a:latin typeface="Segoe UI"/>
              </a:defRPr>
            </a:pPr>
            <a:endParaRPr lang="en-US"/>
          </a:p>
        </c:txPr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architecture point: presolve feeds three interchangeable solve paths, and all three sit on one sparse linear algebra core that exposes only two factorizations plus SpMV. That is why extension is cheap. Restore-check: the third Method bullet — dual simplex warm starts every branch-and-cut node — is the bullet that makes branch-and-cut affordable.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3" Type="http://schemas.openxmlformats.org/officeDocument/2006/relationships/image" Target="../media/image6.svg"/><Relationship Id="rId4" Type="http://schemas.openxmlformats.org/officeDocument/2006/relationships/image" Target="../media/image9.svg"/><Relationship Id="rId5" Type="http://schemas.openxmlformats.org/officeDocument/2006/relationships/image" Target="../media/image10.svg"/><Relationship Id="rId6" Type="http://schemas.openxmlformats.org/officeDocument/2006/relationships/image" Target="../media/image11.svg"/><Relationship Id="rId7" Type="http://schemas.openxmlformats.org/officeDocument/2006/relationships/image" Target="../media/image12.svg"/><Relationship Id="rId8" Type="http://schemas.openxmlformats.org/officeDocument/2006/relationships/image" Target="../media/image13.svg"/><Relationship Id="rId9" Type="http://schemas.openxmlformats.org/officeDocument/2006/relationships/image" Target="../media/image14.svg"/><Relationship Id="rId10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Relationship Id="rId6" Type="http://schemas.openxmlformats.org/officeDocument/2006/relationships/image" Target="../media/image6.svg"/><Relationship Id="rId7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8.svg"/><Relationship Id="rId4" Type="http://schemas.openxmlformats.org/officeDocument/2006/relationships/image" Target="../media/image19.svg"/><Relationship Id="rId5" Type="http://schemas.openxmlformats.org/officeDocument/2006/relationships/image" Target="../media/image20.svg"/><Relationship Id="rId6" Type="http://schemas.openxmlformats.org/officeDocument/2006/relationships/image" Target="../media/image7.svg"/><Relationship Id="rId7" Type="http://schemas.openxmlformats.org/officeDocument/2006/relationships/image" Target="../media/image4.png"/><Relationship Id="rId8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4.svg"/><Relationship Id="rId6" Type="http://schemas.openxmlformats.org/officeDocument/2006/relationships/image" Target="../media/image25.svg"/><Relationship Id="rId7" Type="http://schemas.openxmlformats.org/officeDocument/2006/relationships/image" Target="../media/image26.svg"/><Relationship Id="rId8" Type="http://schemas.openxmlformats.org/officeDocument/2006/relationships/image" Target="../media/image4.png"/><Relationship Id="rId9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svg"/><Relationship Id="rId3" Type="http://schemas.openxmlformats.org/officeDocument/2006/relationships/image" Target="../media/image15.svg"/><Relationship Id="rId4" Type="http://schemas.openxmlformats.org/officeDocument/2006/relationships/image" Target="../media/image17.sv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01392" y="159575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098560" y="2892285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1567177"/>
            <a:ext cx="1261872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GEOVAX — Intelligent Harmonisation of Multi-source Geospatial Data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3A4149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11707" y="2969041"/>
            <a:ext cx="9689685" cy="603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9"/>
              </a:lnSpc>
            </a:pPr>
            <a:r>
              <a:rPr lang="en-US" sz="2600" b="1">
                <a:solidFill>
                  <a:srgbClr val="3A4149"/>
                </a:solidFill>
                <a:latin typeface="Arial Bold"/>
                <a:ea typeface="Arial Bold"/>
                <a:cs typeface="Arial Bold"/>
                <a:sym typeface="Arial Bold"/>
              </a:rPr>
              <a:t>▪  </a:t>
            </a:r>
            <a:r>
              <a:rPr lang="en-US" sz="2600" b="1">
                <a:solidFill>
                  <a:srgbClr val="1C1C1E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SIH26013</a:t>
            </a:r>
          </a:p>
          <a:p>
            <a:pPr algn="l">
              <a:lnSpc>
                <a:spcPts val="6009"/>
              </a:lnSpc>
            </a:pPr>
            <a:r>
              <a:rPr lang="en-US" sz="2600" b="1">
                <a:solidFill>
                  <a:srgbClr val="3A4149"/>
                </a:solidFill>
                <a:latin typeface="Arial Bold"/>
                <a:ea typeface="Arial Bold"/>
                <a:cs typeface="Arial Bold"/>
                <a:sym typeface="Arial Bold"/>
              </a:rPr>
              <a:t>▪  </a:t>
            </a:r>
            <a:r>
              <a:rPr lang="en-US" sz="2600" b="1">
                <a:solidFill>
                  <a:srgbClr val="1C1C1E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 </a:t>
            </a:r>
            <a:r>
              <a:rPr lang="en-US" sz="2600">
                <a:solidFill>
                  <a:srgbClr val="1C1C1E"/>
                </a:solidFill>
                <a:latin typeface="Arial"/>
                <a:ea typeface="Arial"/>
                <a:cs typeface="Arial"/>
                <a:sym typeface="Arial"/>
              </a:rPr>
              <a:t>Automated Integration and Intelligent Harmonisation of Multi-source Geospatial Data for Urban Land Record Management</a:t>
            </a:r>
          </a:p>
          <a:p>
            <a:pPr algn="l">
              <a:lnSpc>
                <a:spcPts val="6009"/>
              </a:lnSpc>
            </a:pPr>
            <a:r>
              <a:rPr lang="en-US" sz="2600" b="1">
                <a:solidFill>
                  <a:srgbClr val="3A4149"/>
                </a:solidFill>
                <a:latin typeface="Arial Bold"/>
                <a:ea typeface="Arial Bold"/>
                <a:cs typeface="Arial Bold"/>
                <a:sym typeface="Arial Bold"/>
              </a:rPr>
              <a:t>▪  </a:t>
            </a:r>
            <a:r>
              <a:rPr lang="en-US" sz="2600" b="1">
                <a:solidFill>
                  <a:srgbClr val="1C1C1E"/>
                </a:solidFill>
                <a:latin typeface="Arial Bold"/>
                <a:ea typeface="Arial Bold"/>
                <a:cs typeface="Arial Bold"/>
                <a:sym typeface="Arial Bold"/>
              </a:rPr>
              <a:t>Theme – </a:t>
            </a:r>
            <a:r>
              <a:rPr lang="en-US" sz="2600">
                <a:solidFill>
                  <a:srgbClr val="1C1C1E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algn="l">
              <a:lnSpc>
                <a:spcPts val="6009"/>
              </a:lnSpc>
            </a:pPr>
            <a:r>
              <a:rPr lang="en-US" sz="2600" b="1">
                <a:solidFill>
                  <a:srgbClr val="3A4149"/>
                </a:solidFill>
                <a:latin typeface="Arial Bold"/>
                <a:ea typeface="Arial Bold"/>
                <a:cs typeface="Arial Bold"/>
                <a:sym typeface="Arial Bold"/>
              </a:rPr>
              <a:t>▪  </a:t>
            </a:r>
            <a:r>
              <a:rPr lang="en-US" sz="2600" b="1">
                <a:solidFill>
                  <a:srgbClr val="1C1C1E"/>
                </a:solidFill>
                <a:latin typeface="Arial Bold"/>
                <a:ea typeface="Arial Bold"/>
                <a:cs typeface="Arial Bold"/>
                <a:sym typeface="Arial Bold"/>
              </a:rPr>
              <a:t>PS Category – </a:t>
            </a:r>
            <a:r>
              <a:rPr lang="en-US" sz="2600">
                <a:solidFill>
                  <a:srgbClr val="1C1C1E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l">
              <a:lnSpc>
                <a:spcPts val="6009"/>
              </a:lnSpc>
            </a:pPr>
            <a:r>
              <a:rPr lang="en-US" sz="2600" b="1">
                <a:solidFill>
                  <a:srgbClr val="3A4149"/>
                </a:solidFill>
                <a:latin typeface="Arial Bold"/>
                <a:ea typeface="Arial Bold"/>
                <a:cs typeface="Arial Bold"/>
                <a:sym typeface="Arial Bold"/>
              </a:rPr>
              <a:t>▪  </a:t>
            </a:r>
            <a:r>
              <a:rPr lang="en-US" sz="2600" b="1">
                <a:solidFill>
                  <a:srgbClr val="1C1C1E"/>
                </a:solidFill>
                <a:latin typeface="Arial Bold"/>
                <a:ea typeface="Arial Bold"/>
                <a:cs typeface="Arial Bold"/>
                <a:sym typeface="Arial Bold"/>
              </a:rPr>
              <a:t>Team ID – 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SIH1167</a:t>
            </a:r>
          </a:p>
          <a:p>
            <a:pPr algn="l">
              <a:lnSpc>
                <a:spcPts val="6009"/>
              </a:lnSpc>
            </a:pPr>
            <a:r>
              <a:rPr lang="en-US" sz="2600" b="1">
                <a:solidFill>
                  <a:srgbClr val="3A4149"/>
                </a:solidFill>
                <a:latin typeface="Arial Bold"/>
                <a:ea typeface="Arial Bold"/>
                <a:cs typeface="Arial Bold"/>
                <a:sym typeface="Arial Bold"/>
              </a:rPr>
              <a:t>▪  </a:t>
            </a:r>
            <a:r>
              <a:rPr lang="en-US" sz="2600" b="1">
                <a:solidFill>
                  <a:srgbClr val="1C1C1E"/>
                </a:solidFill>
                <a:latin typeface="Arial Bold"/>
                <a:ea typeface="Arial Bold"/>
                <a:cs typeface="Arial Bold"/>
                <a:sym typeface="Arial Bold"/>
              </a:rPr>
              <a:t>Team Name – </a:t>
            </a:r>
            <a:r>
              <a:rPr lang="en-US" sz="2600">
                <a:solidFill>
                  <a:srgbClr val="1C1C1E"/>
                </a:solidFill>
                <a:latin typeface="Arial"/>
                <a:ea typeface="Arial"/>
                <a:cs typeface="Arial"/>
                <a:sym typeface="Arial"/>
              </a:rPr>
              <a:t>Perpetually Curious</a:t>
            </a:r>
          </a:p>
        </p:txBody>
      </p:sp>
    </p:spTree>
    <p:extLst>
      <p:ext uri="{BB962C8B-B14F-4D97-AF65-F5344CB8AC3E}">
        <p14:creationId xmlns:p14="http://schemas.microsoft.com/office/powerpoint/2010/main" val="39015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ine Pill"/>
          <p:cNvSpPr txBox="1"/>
          <p:nvPr/>
        </p:nvSpPr>
        <p:spPr>
          <a:xfrm>
            <a:off x="301752" y="301752"/>
            <a:ext cx="3026664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3A4149"/>
                </a:solidFill>
                <a:latin typeface="Segoe UI"/>
              </a:rPr>
              <a:t>Perpetually Curious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3813048" y="155448"/>
            <a:ext cx="1067104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4600" b="1" i="0">
                <a:solidFill>
                  <a:srgbClr val="1C1C1E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3557016" y="841248"/>
            <a:ext cx="11173968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0" i="0">
                <a:solidFill>
                  <a:srgbClr val="3A4149"/>
                </a:solidFill>
                <a:latin typeface="Segoe UI"/>
              </a:rPr>
              <a:t>Four to ten authoritative geometries per parcel — and they disagree.</a:t>
            </a:r>
          </a:p>
        </p:txBody>
      </p:sp>
      <p:sp>
        <p:nvSpPr>
          <p:cNvPr id="5" name="Footer Bar"/>
          <p:cNvSpPr txBox="1"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@SIH Idea submission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6888968" y="990295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127000" bIns="50800">
            <a:spAutoFit/>
          </a:bodyPr>
          <a:lstStyle/>
          <a:p>
            <a:pPr algn="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HE CHALLENGE Card"/>
          <p:cNvSpPr txBox="1"/>
          <p:nvPr/>
        </p:nvSpPr>
        <p:spPr>
          <a:xfrm>
            <a:off x="301752" y="1371600"/>
            <a:ext cx="564184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8" name="THE CHALLENGE Header"/>
          <p:cNvSpPr txBox="1"/>
          <p:nvPr/>
        </p:nvSpPr>
        <p:spPr>
          <a:xfrm>
            <a:off x="301752" y="1371600"/>
            <a:ext cx="5641848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THE CHALLENGE</a:t>
            </a:r>
          </a:p>
        </p:txBody>
      </p:sp>
      <p:sp>
        <p:nvSpPr>
          <p:cNvPr id="9" name="OUR SOLUTION Card"/>
          <p:cNvSpPr txBox="1"/>
          <p:nvPr/>
        </p:nvSpPr>
        <p:spPr>
          <a:xfrm>
            <a:off x="6327648" y="1371600"/>
            <a:ext cx="564184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0" name="OUR SOLUTION Header"/>
          <p:cNvSpPr txBox="1"/>
          <p:nvPr/>
        </p:nvSpPr>
        <p:spPr>
          <a:xfrm>
            <a:off x="6327648" y="1371600"/>
            <a:ext cx="5641848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OUR SOLUTION</a:t>
            </a:r>
          </a:p>
        </p:txBody>
      </p:sp>
      <p:sp>
        <p:nvSpPr>
          <p:cNvPr id="11" name="WHY IT MATTERS Card"/>
          <p:cNvSpPr txBox="1"/>
          <p:nvPr/>
        </p:nvSpPr>
        <p:spPr>
          <a:xfrm>
            <a:off x="12344400" y="1371600"/>
            <a:ext cx="564184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2" name="WHY IT MATTERS Header"/>
          <p:cNvSpPr txBox="1"/>
          <p:nvPr/>
        </p:nvSpPr>
        <p:spPr>
          <a:xfrm>
            <a:off x="12344400" y="1371600"/>
            <a:ext cx="5641848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ile"/>
          <p:cNvSpPr txBox="1"/>
          <p:nvPr/>
        </p:nvSpPr>
        <p:spPr>
          <a:xfrm>
            <a:off x="429768" y="1901952"/>
            <a:ext cx="2642616" cy="758952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Four to ten geometries per parcel</a:t>
            </a:r>
          </a:p>
        </p:txBody>
      </p:sp>
      <p:sp>
        <p:nvSpPr>
          <p:cNvPr id="14" name="Tile"/>
          <p:cNvSpPr txBox="1"/>
          <p:nvPr/>
        </p:nvSpPr>
        <p:spPr>
          <a:xfrm>
            <a:off x="3172968" y="1901952"/>
            <a:ext cx="2642616" cy="758952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Reconciled by hand in GIS</a:t>
            </a:r>
          </a:p>
        </p:txBody>
      </p:sp>
      <p:sp>
        <p:nvSpPr>
          <p:cNvPr id="15" name="Tile"/>
          <p:cNvSpPr txBox="1"/>
          <p:nvPr/>
        </p:nvSpPr>
        <p:spPr>
          <a:xfrm>
            <a:off x="429768" y="2770632"/>
            <a:ext cx="2642616" cy="758952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No record of why a decision was made</a:t>
            </a:r>
          </a:p>
        </p:txBody>
      </p:sp>
      <p:sp>
        <p:nvSpPr>
          <p:cNvPr id="16" name="Tile"/>
          <p:cNvSpPr txBox="1"/>
          <p:nvPr/>
        </p:nvSpPr>
        <p:spPr>
          <a:xfrm>
            <a:off x="3172968" y="2770632"/>
            <a:ext cx="2642616" cy="758952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Errors propagate silently</a:t>
            </a:r>
          </a:p>
        </p:txBody>
      </p:sp>
      <p:sp>
        <p:nvSpPr>
          <p:cNvPr id="17" name="Gap Label"/>
          <p:cNvSpPr txBox="1"/>
          <p:nvPr/>
        </p:nvSpPr>
        <p:spPr>
          <a:xfrm>
            <a:off x="429768" y="3657600"/>
            <a:ext cx="5385816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1" i="0">
                <a:solidFill>
                  <a:srgbClr val="3A4149"/>
                </a:solidFill>
                <a:latin typeface="Segoe UI"/>
              </a:rPr>
              <a:t>Existing gap in current GIS workflows</a:t>
            </a:r>
          </a:p>
        </p:txBody>
      </p:sp>
      <p:sp>
        <p:nvSpPr>
          <p:cNvPr id="18" name="Tile"/>
          <p:cNvSpPr txBox="1"/>
          <p:nvPr/>
        </p:nvSpPr>
        <p:spPr>
          <a:xfrm>
            <a:off x="429768" y="4041648"/>
            <a:ext cx="1728216" cy="786384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Slow cadastral finalisation</a:t>
            </a:r>
          </a:p>
        </p:txBody>
      </p:sp>
      <p:sp>
        <p:nvSpPr>
          <p:cNvPr id="19" name="Tile"/>
          <p:cNvSpPr txBox="1"/>
          <p:nvPr/>
        </p:nvSpPr>
        <p:spPr>
          <a:xfrm>
            <a:off x="2258568" y="4041648"/>
            <a:ext cx="1728216" cy="786384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Data siloed per department</a:t>
            </a:r>
          </a:p>
        </p:txBody>
      </p:sp>
      <p:sp>
        <p:nvSpPr>
          <p:cNvPr id="20" name="Tile"/>
          <p:cNvSpPr txBox="1"/>
          <p:nvPr/>
        </p:nvSpPr>
        <p:spPr>
          <a:xfrm>
            <a:off x="4087368" y="4041648"/>
            <a:ext cx="1728216" cy="786384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Averaging invents boundaries</a:t>
            </a:r>
          </a:p>
        </p:txBody>
      </p:sp>
      <p:sp>
        <p:nvSpPr>
          <p:cNvPr id="21" name="Solution Headline"/>
          <p:cNvSpPr txBox="1"/>
          <p:nvPr/>
        </p:nvSpPr>
        <p:spPr>
          <a:xfrm>
            <a:off x="6455664" y="1901952"/>
            <a:ext cx="5385816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2300" b="1" i="0">
                <a:solidFill>
                  <a:srgbClr val="1C1C1E"/>
                </a:solidFill>
                <a:latin typeface="Segoe UI"/>
              </a:rPr>
              <a:t>An AI-enabled platform that adjudicates — and shows its working</a:t>
            </a:r>
          </a:p>
        </p:txBody>
      </p:sp>
      <p:sp>
        <p:nvSpPr>
          <p:cNvPr id="22" name="Tile"/>
          <p:cNvSpPr txBox="1"/>
          <p:nvPr/>
        </p:nvSpPr>
        <p:spPr>
          <a:xfrm>
            <a:off x="6455664" y="2816352"/>
            <a:ext cx="2642616" cy="969264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Claims, Not Records</a:t>
            </a:r>
          </a:p>
        </p:txBody>
      </p:sp>
      <p:sp>
        <p:nvSpPr>
          <p:cNvPr id="23" name="Tile"/>
          <p:cNvSpPr txBox="1"/>
          <p:nvPr/>
        </p:nvSpPr>
        <p:spPr>
          <a:xfrm>
            <a:off x="9198864" y="2816352"/>
            <a:ext cx="2642616" cy="969264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Dempster–Shafer Evidence Fusion</a:t>
            </a:r>
          </a:p>
        </p:txBody>
      </p:sp>
      <p:sp>
        <p:nvSpPr>
          <p:cNvPr id="24" name="Tile"/>
          <p:cNvSpPr txBox="1"/>
          <p:nvPr/>
        </p:nvSpPr>
        <p:spPr>
          <a:xfrm>
            <a:off x="6455664" y="3886200"/>
            <a:ext cx="2642616" cy="969264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Never Invents a Boundary</a:t>
            </a:r>
          </a:p>
        </p:txBody>
      </p:sp>
      <p:sp>
        <p:nvSpPr>
          <p:cNvPr id="25" name="Tile"/>
          <p:cNvSpPr txBox="1"/>
          <p:nvPr/>
        </p:nvSpPr>
        <p:spPr>
          <a:xfrm>
            <a:off x="9198864" y="3886200"/>
            <a:ext cx="2642616" cy="969264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ULPIN + Provenance Ledger</a:t>
            </a:r>
          </a:p>
        </p:txBody>
      </p:sp>
      <p:sp>
        <p:nvSpPr>
          <p:cNvPr id="26" name="Tile"/>
          <p:cNvSpPr txBox="1"/>
          <p:nvPr/>
        </p:nvSpPr>
        <p:spPr>
          <a:xfrm>
            <a:off x="12472416" y="2084832"/>
            <a:ext cx="1728216" cy="1271016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AI/ML Spatial Matching</a:t>
            </a:r>
          </a:p>
        </p:txBody>
      </p:sp>
      <p:sp>
        <p:nvSpPr>
          <p:cNvPr id="27" name="Tile"/>
          <p:cNvSpPr txBox="1"/>
          <p:nvPr/>
        </p:nvSpPr>
        <p:spPr>
          <a:xfrm>
            <a:off x="14301216" y="2084832"/>
            <a:ext cx="1728216" cy="1271016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Automated Topology Correction</a:t>
            </a:r>
          </a:p>
        </p:txBody>
      </p:sp>
      <p:sp>
        <p:nvSpPr>
          <p:cNvPr id="28" name="Tile"/>
          <p:cNvSpPr txBox="1"/>
          <p:nvPr/>
        </p:nvSpPr>
        <p:spPr>
          <a:xfrm>
            <a:off x="16130016" y="2084832"/>
            <a:ext cx="1728216" cy="1271016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Intelligent Attribute Mapping</a:t>
            </a:r>
          </a:p>
        </p:txBody>
      </p:sp>
      <p:sp>
        <p:nvSpPr>
          <p:cNvPr id="29" name="Tile"/>
          <p:cNvSpPr txBox="1"/>
          <p:nvPr/>
        </p:nvSpPr>
        <p:spPr>
          <a:xfrm>
            <a:off x="12472416" y="3502152"/>
            <a:ext cx="1728216" cy="1271016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Georeferencing &amp; CRS</a:t>
            </a:r>
          </a:p>
        </p:txBody>
      </p:sp>
      <p:sp>
        <p:nvSpPr>
          <p:cNvPr id="30" name="Tile"/>
          <p:cNvSpPr txBox="1"/>
          <p:nvPr/>
        </p:nvSpPr>
        <p:spPr>
          <a:xfrm>
            <a:off x="14301216" y="3502152"/>
            <a:ext cx="1728216" cy="1271016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Change Detection &amp; Typing</a:t>
            </a:r>
          </a:p>
        </p:txBody>
      </p:sp>
      <p:sp>
        <p:nvSpPr>
          <p:cNvPr id="31" name="Tile"/>
          <p:cNvSpPr txBox="1"/>
          <p:nvPr/>
        </p:nvSpPr>
        <p:spPr>
          <a:xfrm>
            <a:off x="16130016" y="3502152"/>
            <a:ext cx="1728216" cy="1271016"/>
          </a:xfrm>
          <a:prstGeom prst="rect">
            <a:avLst/>
          </a:prstGeom>
          <a:solidFill>
            <a:srgbClr val="F5F8FC"/>
          </a:solidFill>
          <a:ln w="12700">
            <a:solidFill>
              <a:srgbClr val="EFEBE6"/>
            </a:solidFill>
          </a:ln>
        </p:spPr>
        <p:txBody>
          <a:bodyPr wrap="square" anchor="ctr" lIns="101600" tIns="63500" rIns="101600" bIns="63500">
            <a:spAutoFit/>
          </a:bodyPr>
          <a:lstStyle/>
          <a:p>
            <a:pPr algn="ctr">
              <a:lnSpc>
                <a:spcPct val="94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Confidence Scoring, Graded A–E</a:t>
            </a:r>
          </a:p>
        </p:txBody>
      </p:sp>
      <p:sp>
        <p:nvSpPr>
          <p:cNvPr id="32" name="Metrics Strip"/>
          <p:cNvSpPr txBox="1"/>
          <p:nvPr/>
        </p:nvSpPr>
        <p:spPr>
          <a:xfrm>
            <a:off x="301752" y="5230368"/>
            <a:ext cx="17675352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3" name="Metric 1"/>
          <p:cNvSpPr txBox="1"/>
          <p:nvPr/>
        </p:nvSpPr>
        <p:spPr>
          <a:xfrm>
            <a:off x="301752" y="5312664"/>
            <a:ext cx="2523744" cy="10698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800" b="1" i="0">
                <a:solidFill>
                  <a:srgbClr val="1C1C1E"/>
                </a:solidFill>
                <a:latin typeface="Segoe UI"/>
              </a:rPr>
              <a:t>107,262</a:t>
            </a:r>
          </a:p>
          <a:p>
            <a:pPr algn="ctr">
              <a:lnSpc>
                <a:spcPct val="92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Real features harmonised end to end</a:t>
            </a:r>
          </a:p>
        </p:txBody>
      </p:sp>
      <p:sp>
        <p:nvSpPr>
          <p:cNvPr id="34" name="Metric 2"/>
          <p:cNvSpPr txBox="1"/>
          <p:nvPr/>
        </p:nvSpPr>
        <p:spPr>
          <a:xfrm>
            <a:off x="2825496" y="5312664"/>
            <a:ext cx="2523744" cy="10698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1" i="0">
                <a:solidFill>
                  <a:srgbClr val="1C1C1E"/>
                </a:solidFill>
                <a:latin typeface="Segoe UI"/>
              </a:rPr>
              <a:t>1.51 m @ 073°</a:t>
            </a:r>
          </a:p>
          <a:p>
            <a:pPr algn="ctr">
              <a:lnSpc>
                <a:spcPct val="92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Systematic inter-departmental offset recovered</a:t>
            </a:r>
          </a:p>
        </p:txBody>
      </p:sp>
      <p:sp>
        <p:nvSpPr>
          <p:cNvPr id="35" name="Metric Divider"/>
          <p:cNvSpPr txBox="1"/>
          <p:nvPr/>
        </p:nvSpPr>
        <p:spPr>
          <a:xfrm>
            <a:off x="2825496" y="5513832"/>
            <a:ext cx="9144" cy="658368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6" name="Metric 3"/>
          <p:cNvSpPr txBox="1"/>
          <p:nvPr/>
        </p:nvSpPr>
        <p:spPr>
          <a:xfrm>
            <a:off x="5349240" y="5312664"/>
            <a:ext cx="2523744" cy="10698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800" b="1" i="0">
                <a:solidFill>
                  <a:srgbClr val="1C1C1E"/>
                </a:solidFill>
                <a:latin typeface="Segoe UI"/>
              </a:rPr>
              <a:t>99.988%</a:t>
            </a:r>
          </a:p>
          <a:p>
            <a:pPr algn="ctr">
              <a:lnSpc>
                <a:spcPct val="92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Candidate pairs eliminated by blocking</a:t>
            </a:r>
          </a:p>
        </p:txBody>
      </p:sp>
      <p:sp>
        <p:nvSpPr>
          <p:cNvPr id="37" name="Metric Divider"/>
          <p:cNvSpPr txBox="1"/>
          <p:nvPr/>
        </p:nvSpPr>
        <p:spPr>
          <a:xfrm>
            <a:off x="5349240" y="5513832"/>
            <a:ext cx="9144" cy="658368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8" name="Metric 4"/>
          <p:cNvSpPr txBox="1"/>
          <p:nvPr/>
        </p:nvSpPr>
        <p:spPr>
          <a:xfrm>
            <a:off x="7872984" y="5312664"/>
            <a:ext cx="2523744" cy="10698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800" b="1" i="0">
                <a:solidFill>
                  <a:srgbClr val="1C1C1E"/>
                </a:solidFill>
                <a:latin typeface="Segoe UI"/>
              </a:rPr>
              <a:t>43.4%</a:t>
            </a:r>
          </a:p>
          <a:p>
            <a:pPr algn="ctr">
              <a:lnSpc>
                <a:spcPct val="92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Conflicts auto-resolved, the rest queued</a:t>
            </a:r>
          </a:p>
        </p:txBody>
      </p:sp>
      <p:sp>
        <p:nvSpPr>
          <p:cNvPr id="39" name="Metric Divider"/>
          <p:cNvSpPr txBox="1"/>
          <p:nvPr/>
        </p:nvSpPr>
        <p:spPr>
          <a:xfrm>
            <a:off x="7872984" y="5513832"/>
            <a:ext cx="9144" cy="658368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0" name="Metric 5"/>
          <p:cNvSpPr txBox="1"/>
          <p:nvPr/>
        </p:nvSpPr>
        <p:spPr>
          <a:xfrm>
            <a:off x="10396728" y="5312664"/>
            <a:ext cx="2523744" cy="10698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800" b="1" i="0">
                <a:solidFill>
                  <a:srgbClr val="1C1C1E"/>
                </a:solidFill>
                <a:latin typeface="Segoe UI"/>
              </a:rPr>
              <a:t>14,702</a:t>
            </a:r>
          </a:p>
          <a:p>
            <a:pPr algn="ctr">
              <a:lnSpc>
                <a:spcPct val="92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ULPINs minted, every one unique</a:t>
            </a:r>
          </a:p>
        </p:txBody>
      </p:sp>
      <p:sp>
        <p:nvSpPr>
          <p:cNvPr id="41" name="Metric Divider"/>
          <p:cNvSpPr txBox="1"/>
          <p:nvPr/>
        </p:nvSpPr>
        <p:spPr>
          <a:xfrm>
            <a:off x="10396728" y="5513832"/>
            <a:ext cx="9144" cy="658368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2" name="Metric 6"/>
          <p:cNvSpPr txBox="1"/>
          <p:nvPr/>
        </p:nvSpPr>
        <p:spPr>
          <a:xfrm>
            <a:off x="12920472" y="5312664"/>
            <a:ext cx="2523744" cy="10698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400" b="1" i="0">
                <a:solidFill>
                  <a:srgbClr val="1C1C1E"/>
                </a:solidFill>
                <a:latin typeface="Segoe UI"/>
              </a:rPr>
              <a:t>17 min 45 s</a:t>
            </a:r>
          </a:p>
          <a:p>
            <a:pPr algn="ctr">
              <a:lnSpc>
                <a:spcPct val="92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One full run on 2 vCPU / 7 GB</a:t>
            </a:r>
          </a:p>
        </p:txBody>
      </p:sp>
      <p:sp>
        <p:nvSpPr>
          <p:cNvPr id="43" name="Metric Divider"/>
          <p:cNvSpPr txBox="1"/>
          <p:nvPr/>
        </p:nvSpPr>
        <p:spPr>
          <a:xfrm>
            <a:off x="12920472" y="5513832"/>
            <a:ext cx="9144" cy="658368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4" name="Metric 7"/>
          <p:cNvSpPr txBox="1"/>
          <p:nvPr/>
        </p:nvSpPr>
        <p:spPr>
          <a:xfrm>
            <a:off x="15444216" y="5312664"/>
            <a:ext cx="2523744" cy="10698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800" b="1" i="0">
                <a:solidFill>
                  <a:srgbClr val="1C1C1E"/>
                </a:solidFill>
                <a:latin typeface="Segoe UI"/>
              </a:rPr>
              <a:t>0</a:t>
            </a:r>
          </a:p>
          <a:p>
            <a:pPr algn="ctr">
              <a:lnSpc>
                <a:spcPct val="92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Synthetic features anywhere in the corpus</a:t>
            </a:r>
          </a:p>
        </p:txBody>
      </p:sp>
      <p:sp>
        <p:nvSpPr>
          <p:cNvPr id="45" name="Metric Divider"/>
          <p:cNvSpPr txBox="1"/>
          <p:nvPr/>
        </p:nvSpPr>
        <p:spPr>
          <a:xfrm>
            <a:off x="15444216" y="5513832"/>
            <a:ext cx="9144" cy="658368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6" name="TECHNICAL NOVELTY: EVIDENCE-BASED HARMONISATION CORE Card"/>
          <p:cNvSpPr txBox="1"/>
          <p:nvPr/>
        </p:nvSpPr>
        <p:spPr>
          <a:xfrm>
            <a:off x="301752" y="6601968"/>
            <a:ext cx="8686800" cy="2157984"/>
          </a:xfrm>
          <a:prstGeom prst="rect">
            <a:avLst/>
          </a:prstGeom>
          <a:solidFill>
            <a:srgbClr val="F8F6F3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7" name="TECHNICAL NOVELTY: EVIDENCE-BASED HARMONISATION CORE Header"/>
          <p:cNvSpPr txBox="1"/>
          <p:nvPr/>
        </p:nvSpPr>
        <p:spPr>
          <a:xfrm>
            <a:off x="301752" y="6601968"/>
            <a:ext cx="8686800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685800" tIns="50800" rIns="152400" bIns="50800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TECHNICAL NOVELTY: EVIDENCE-BASED HARMONISATION CORE</a:t>
            </a:r>
          </a:p>
        </p:txBody>
      </p:sp>
      <p:sp>
        <p:nvSpPr>
          <p:cNvPr id="48" name="Novelty Body"/>
          <p:cNvSpPr txBox="1"/>
          <p:nvPr/>
        </p:nvSpPr>
        <p:spPr>
          <a:xfrm>
            <a:off x="438912" y="7077456"/>
            <a:ext cx="8485632" cy="1545336"/>
          </a:xfrm>
          <a:prstGeom prst="rect">
            <a:avLst/>
          </a:prstGeom>
          <a:noFill/>
          <a:ln>
            <a:noFill/>
          </a:ln>
        </p:spPr>
        <p:txBody>
          <a:bodyPr wrap="square" anchor="t" lIns="177800" tIns="50800" rIns="127000" bIns="50800">
            <a:spAutoFit/>
          </a:bodyPr>
          <a:lstStyle/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Claims are never deleted — every decision stays re-examinable</a:t>
            </a:r>
          </a:p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Mass sits on “unknown”, so ignorance is visible, not hidden</a:t>
            </a:r>
          </a:p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Selects an observed boundary, never an averaged one</a:t>
            </a:r>
          </a:p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Bounded, audited topology repair — refuses beyond 0.5 m</a:t>
            </a:r>
          </a:p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Six-dimension explainable confidence, graded A–E per feature</a:t>
            </a:r>
          </a:p>
        </p:txBody>
      </p:sp>
      <p:sp>
        <p:nvSpPr>
          <p:cNvPr id="49" name="BUSINESS NOVELTY: A DEFENSIBLE RECORD, NOT A FASTER GUESS Card"/>
          <p:cNvSpPr txBox="1"/>
          <p:nvPr/>
        </p:nvSpPr>
        <p:spPr>
          <a:xfrm>
            <a:off x="9299448" y="6601968"/>
            <a:ext cx="8686800" cy="2157984"/>
          </a:xfrm>
          <a:prstGeom prst="rect">
            <a:avLst/>
          </a:prstGeom>
          <a:solidFill>
            <a:srgbClr val="FBEEDD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0" name="BUSINESS NOVELTY: A DEFENSIBLE RECORD, NOT A FASTER GUESS Header"/>
          <p:cNvSpPr txBox="1"/>
          <p:nvPr/>
        </p:nvSpPr>
        <p:spPr>
          <a:xfrm>
            <a:off x="9299448" y="6601968"/>
            <a:ext cx="8686800" cy="457200"/>
          </a:xfrm>
          <a:prstGeom prst="rect">
            <a:avLst/>
          </a:prstGeom>
          <a:solidFill>
            <a:srgbClr val="E2711D"/>
          </a:solidFill>
          <a:ln>
            <a:noFill/>
          </a:ln>
        </p:spPr>
        <p:txBody>
          <a:bodyPr wrap="square" anchor="ctr" lIns="685800" tIns="50800" rIns="152400" bIns="50800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1" i="0">
                <a:solidFill>
                  <a:srgbClr val="1C1C1E"/>
                </a:solidFill>
                <a:latin typeface="Segoe UI"/>
              </a:rPr>
              <a:t>BUSINESS NOVELTY: A DEFENSIBLE RECORD, NOT A FASTER GUESS</a:t>
            </a:r>
          </a:p>
        </p:txBody>
      </p:sp>
      <p:sp>
        <p:nvSpPr>
          <p:cNvPr id="51" name="Novelty Body"/>
          <p:cNvSpPr txBox="1"/>
          <p:nvPr/>
        </p:nvSpPr>
        <p:spPr>
          <a:xfrm>
            <a:off x="9445752" y="7077456"/>
            <a:ext cx="8485632" cy="1545336"/>
          </a:xfrm>
          <a:prstGeom prst="rect">
            <a:avLst/>
          </a:prstGeom>
          <a:noFill/>
          <a:ln>
            <a:noFill/>
          </a:ln>
        </p:spPr>
        <p:txBody>
          <a:bodyPr wrap="square" anchor="t" lIns="177800" tIns="50800" rIns="127000" bIns="50800">
            <a:spAutoFit/>
          </a:bodyPr>
          <a:lstStyle/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E2711D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ULPIN (Bhu-Aadhaar) minting with split / merge genealogy</a:t>
            </a:r>
          </a:p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E2711D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Merkle-anchored ledger a citizen can verify independently</a:t>
            </a:r>
          </a:p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E2711D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Adjudication queue batched by cause, ranked by decision value</a:t>
            </a:r>
          </a:p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E2711D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Runs offline on 2 vCPU — no data centre, no external service</a:t>
            </a:r>
          </a:p>
          <a:p>
            <a:pPr algn="l" marL="266700" indent="-266700">
              <a:lnSpc>
                <a:spcPct val="100000"/>
              </a:lnSpc>
              <a:spcBef>
                <a:spcPts val="400"/>
              </a:spcBef>
              <a:buClr>
                <a:srgbClr val="E2711D"/>
              </a:buClr>
              <a:buFont typeface="Arial"/>
              <a:buChar char="✓"/>
            </a:pPr>
            <a:r>
              <a:rPr sz="1900" b="0" i="0">
                <a:solidFill>
                  <a:srgbClr val="1C1C1E"/>
                </a:solidFill>
                <a:latin typeface="Segoe UI"/>
              </a:rPr>
              <a:t>OGC API - Features: works in QGIS with no custom code</a:t>
            </a:r>
          </a:p>
        </p:txBody>
      </p:sp>
      <p:sp>
        <p:nvSpPr>
          <p:cNvPr id="52" name="Problem Bar"/>
          <p:cNvSpPr txBox="1"/>
          <p:nvPr/>
        </p:nvSpPr>
        <p:spPr>
          <a:xfrm>
            <a:off x="301752" y="8887968"/>
            <a:ext cx="1767535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3" name="Problem We Address"/>
          <p:cNvSpPr txBox="1"/>
          <p:nvPr/>
        </p:nvSpPr>
        <p:spPr>
          <a:xfrm>
            <a:off x="557784" y="8970264"/>
            <a:ext cx="7616952" cy="8138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27000" tIns="50800" rIns="127000" bIns="508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PROBLEM WE ADDRESS</a:t>
            </a:r>
          </a:p>
          <a:p>
            <a:pPr algn="l">
              <a:lnSpc>
                <a:spcPct val="98000"/>
              </a:lnSpc>
            </a:pPr>
            <a:r>
              <a:rPr sz="1800" b="0" i="0">
                <a:solidFill>
                  <a:srgbClr val="3A4149"/>
                </a:solidFill>
                <a:latin typeface="Segoe UI"/>
              </a:rPr>
              <a:t>Harmonisation of multi-source land data is manual, slow, error-prone — and preserves no reason for any decision.</a:t>
            </a:r>
          </a:p>
        </p:txBody>
      </p:sp>
      <p:sp>
        <p:nvSpPr>
          <p:cNvPr id="54" name="Bar Divider"/>
          <p:cNvSpPr txBox="1"/>
          <p:nvPr/>
        </p:nvSpPr>
        <p:spPr>
          <a:xfrm>
            <a:off x="8385048" y="9070848"/>
            <a:ext cx="9144" cy="612648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5" name="Arrow"/>
          <p:cNvSpPr txBox="1"/>
          <p:nvPr/>
        </p:nvSpPr>
        <p:spPr>
          <a:xfrm>
            <a:off x="8586216" y="9116568"/>
            <a:ext cx="713232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30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56" name="Aim Statement"/>
          <p:cNvSpPr txBox="1"/>
          <p:nvPr/>
        </p:nvSpPr>
        <p:spPr>
          <a:xfrm>
            <a:off x="9445752" y="8970264"/>
            <a:ext cx="8330184" cy="8138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27000" tIns="50800" rIns="127000" bIns="508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C1C1E"/>
                </a:solidFill>
                <a:latin typeface="Segoe UI"/>
              </a:rPr>
              <a:t>We automate that adjudication so every published boundary carries </a:t>
            </a:r>
            <a:r>
              <a:rPr sz="1800" b="1" i="0">
                <a:solidFill>
                  <a:srgbClr val="1C1C1E"/>
                </a:solidFill>
                <a:latin typeface="Segoe UI"/>
              </a:rPr>
              <a:t>its evidence, its confidence and its provenance</a:t>
            </a:r>
            <a:r>
              <a:rPr sz="1800" b="0" i="0">
                <a:solidFill>
                  <a:srgbClr val="1C1C1E"/>
                </a:solidFill>
                <a:latin typeface="Segoe UI"/>
              </a:rPr>
              <a:t>.</a:t>
            </a:r>
          </a:p>
        </p:txBody>
      </p:sp>
      <p:pic>
        <p:nvPicPr>
          <p:cNvPr id="156" name="Graphic 156" descr="Licensing challen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064" y="1435608"/>
            <a:ext cx="329184" cy="329184"/>
          </a:xfrm>
          <a:prstGeom prst="rect">
            <a:avLst/>
          </a:prstGeom>
        </p:spPr>
      </p:pic>
      <p:pic>
        <p:nvPicPr>
          <p:cNvPr id="157" name="Graphic 157" descr="Our 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8816" y="1435608"/>
            <a:ext cx="329184" cy="329184"/>
          </a:xfrm>
          <a:prstGeom prst="rect">
            <a:avLst/>
          </a:prstGeom>
        </p:spPr>
      </p:pic>
      <p:pic>
        <p:nvPicPr>
          <p:cNvPr id="158" name="Graphic 158" descr="Why it mat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45568" y="1435608"/>
            <a:ext cx="329184" cy="329184"/>
          </a:xfrm>
          <a:prstGeom prst="rect">
            <a:avLst/>
          </a:prstGeom>
        </p:spPr>
      </p:pic>
      <p:pic>
        <p:nvPicPr>
          <p:cNvPr id="159" name="Graphic 159" descr="Technical novel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064" y="6665976"/>
            <a:ext cx="329184" cy="329184"/>
          </a:xfrm>
          <a:prstGeom prst="rect">
            <a:avLst/>
          </a:prstGeom>
        </p:spPr>
      </p:pic>
      <p:pic>
        <p:nvPicPr>
          <p:cNvPr id="160" name="Graphic 160" descr="Business novel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0616" y="6665976"/>
            <a:ext cx="329184" cy="329184"/>
          </a:xfrm>
          <a:prstGeom prst="rect">
            <a:avLst/>
          </a:prstGeom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845BFFFD-418A-2294-CBB5-FAD28755715C}"/>
              </a:ext>
            </a:extLst>
          </p:cNvPr>
          <p:cNvGrpSpPr/>
          <p:nvPr/>
        </p:nvGrpSpPr>
        <p:grpSpPr>
          <a:xfrm>
            <a:off x="14731999" y="2248"/>
            <a:ext cx="3312903" cy="1115352"/>
            <a:chOff x="0" y="0"/>
            <a:chExt cx="4499699" cy="2124672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323561B9-7303-DA2B-C9D3-E0748159D6AE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68350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ine Pill"/>
          <p:cNvSpPr txBox="1"/>
          <p:nvPr/>
        </p:nvSpPr>
        <p:spPr>
          <a:xfrm>
            <a:off x="301752" y="301752"/>
            <a:ext cx="3026664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3A4149"/>
                </a:solidFill>
                <a:latin typeface="Segoe UI"/>
              </a:rPr>
              <a:t>Perpetually Curious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3813048" y="173736"/>
            <a:ext cx="1067104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800" b="1" i="0">
                <a:solidFill>
                  <a:srgbClr val="1C1C1E"/>
                </a:solidFill>
                <a:latin typeface="Segoe UI"/>
              </a:rPr>
              <a:t>GEOVAX — Automated Geospatial Harmonisation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3557016" y="859536"/>
            <a:ext cx="11173968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0" i="0">
                <a:solidFill>
                  <a:srgbClr val="3A4149"/>
                </a:solidFill>
                <a:latin typeface="Segoe UI"/>
              </a:rPr>
              <a:t>From Disagreeing Sources to a Defensible Land Record</a:t>
            </a:r>
          </a:p>
        </p:txBody>
      </p:sp>
      <p:sp>
        <p:nvSpPr>
          <p:cNvPr id="5" name="Footer Bar"/>
          <p:cNvSpPr txBox="1"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@SIH Idea submission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6888968" y="990295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127000" bIns="50800">
            <a:spAutoFit/>
          </a:bodyPr>
          <a:lstStyle/>
          <a:p>
            <a:pPr algn="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Stage 1"/>
          <p:cNvSpPr txBox="1"/>
          <p:nvPr/>
        </p:nvSpPr>
        <p:spPr>
          <a:xfrm>
            <a:off x="301752" y="1399032"/>
            <a:ext cx="3191256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52400" tIns="127000" rIns="152400" bIns="127000">
            <a:spAutoFit/>
          </a:bodyPr>
          <a:lstStyle/>
          <a:p>
            <a:pPr algn="ctr">
              <a:lnSpc>
                <a:spcPct val="98000"/>
              </a:lnSpc>
            </a:pPr>
            <a:r>
              <a:rPr sz="2100" b="1" i="0">
                <a:solidFill>
                  <a:srgbClr val="1C1C1E"/>
                </a:solidFill>
                <a:latin typeface="Segoe UI"/>
              </a:rPr>
              <a:t>Ingest + CRS</a:t>
            </a:r>
          </a:p>
          <a:p>
            <a:pPr algn="ctr">
              <a:lnSpc>
                <a:spcPct val="96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Stream real layers, profile them, put every geometry on one datum</a:t>
            </a:r>
          </a:p>
        </p:txBody>
      </p:sp>
      <p:sp>
        <p:nvSpPr>
          <p:cNvPr id="8" name="Arrow 1"/>
          <p:cNvSpPr txBox="1"/>
          <p:nvPr/>
        </p:nvSpPr>
        <p:spPr>
          <a:xfrm>
            <a:off x="3493008" y="2093976"/>
            <a:ext cx="42976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4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9" name="Stage 2"/>
          <p:cNvSpPr txBox="1"/>
          <p:nvPr/>
        </p:nvSpPr>
        <p:spPr>
          <a:xfrm>
            <a:off x="3927348" y="1399032"/>
            <a:ext cx="3191256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52400" tIns="127000" rIns="152400" bIns="127000">
            <a:spAutoFit/>
          </a:bodyPr>
          <a:lstStyle/>
          <a:p>
            <a:pPr algn="ctr">
              <a:lnSpc>
                <a:spcPct val="98000"/>
              </a:lnSpc>
            </a:pPr>
            <a:r>
              <a:rPr sz="2100" b="1" i="0">
                <a:solidFill>
                  <a:srgbClr val="1C1C1E"/>
                </a:solidFill>
                <a:latin typeface="Segoe UI"/>
              </a:rPr>
              <a:t>Topology + schema</a:t>
            </a:r>
          </a:p>
          <a:p>
            <a:pPr algn="ctr">
              <a:lnSpc>
                <a:spcPct val="96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Validate, bounded repair, automatic crosswalk to a canonical schema</a:t>
            </a:r>
          </a:p>
        </p:txBody>
      </p:sp>
      <p:sp>
        <p:nvSpPr>
          <p:cNvPr id="10" name="Arrow 2"/>
          <p:cNvSpPr txBox="1"/>
          <p:nvPr/>
        </p:nvSpPr>
        <p:spPr>
          <a:xfrm>
            <a:off x="7118604" y="2093976"/>
            <a:ext cx="42976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4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11" name="Stage 3"/>
          <p:cNvSpPr txBox="1"/>
          <p:nvPr/>
        </p:nvSpPr>
        <p:spPr>
          <a:xfrm>
            <a:off x="7552944" y="1399032"/>
            <a:ext cx="3191256" cy="1901952"/>
          </a:xfrm>
          <a:prstGeom prst="rect">
            <a:avLst/>
          </a:prstGeom>
          <a:solidFill>
            <a:srgbClr val="F8F6F3"/>
          </a:solidFill>
          <a:ln w="25400">
            <a:solidFill>
              <a:srgbClr val="16324F"/>
            </a:solidFill>
          </a:ln>
        </p:spPr>
        <p:txBody>
          <a:bodyPr wrap="square" anchor="ctr" lIns="152400" tIns="127000" rIns="152400" bIns="127000">
            <a:spAutoFit/>
          </a:bodyPr>
          <a:lstStyle/>
          <a:p>
            <a:pPr algn="ctr">
              <a:lnSpc>
                <a:spcPct val="98000"/>
              </a:lnSpc>
            </a:pPr>
            <a:r>
              <a:rPr sz="2100" b="1" i="0">
                <a:solidFill>
                  <a:srgbClr val="1C1C1E"/>
                </a:solidFill>
                <a:latin typeface="Segoe UI"/>
              </a:rPr>
              <a:t>Match + fuse</a:t>
            </a:r>
          </a:p>
          <a:p>
            <a:pPr algn="ctr">
              <a:lnSpc>
                <a:spcPct val="96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Blocking, learned matcher, Dempster–Shafer evidence fusion</a:t>
            </a:r>
          </a:p>
        </p:txBody>
      </p:sp>
      <p:sp>
        <p:nvSpPr>
          <p:cNvPr id="12" name="Arrow 3"/>
          <p:cNvSpPr txBox="1"/>
          <p:nvPr/>
        </p:nvSpPr>
        <p:spPr>
          <a:xfrm>
            <a:off x="10744200" y="2093976"/>
            <a:ext cx="42976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4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13" name="Stage 4"/>
          <p:cNvSpPr txBox="1"/>
          <p:nvPr/>
        </p:nvSpPr>
        <p:spPr>
          <a:xfrm>
            <a:off x="11178540" y="1399032"/>
            <a:ext cx="3191256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52400" tIns="127000" rIns="152400" bIns="127000">
            <a:spAutoFit/>
          </a:bodyPr>
          <a:lstStyle/>
          <a:p>
            <a:pPr algn="ctr">
              <a:lnSpc>
                <a:spcPct val="98000"/>
              </a:lnSpc>
            </a:pPr>
            <a:r>
              <a:rPr sz="2100" b="1" i="0">
                <a:solidFill>
                  <a:srgbClr val="1C1C1E"/>
                </a:solidFill>
                <a:latin typeface="Segoe UI"/>
              </a:rPr>
              <a:t>Confidence + queue</a:t>
            </a:r>
          </a:p>
          <a:p>
            <a:pPr algn="ctr">
              <a:lnSpc>
                <a:spcPct val="96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Six dimensions, graded A–E; only contested cases reach a human</a:t>
            </a:r>
          </a:p>
        </p:txBody>
      </p:sp>
      <p:sp>
        <p:nvSpPr>
          <p:cNvPr id="14" name="Arrow 4"/>
          <p:cNvSpPr txBox="1"/>
          <p:nvPr/>
        </p:nvSpPr>
        <p:spPr>
          <a:xfrm>
            <a:off x="14369796" y="2093976"/>
            <a:ext cx="42976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4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15" name="Stage 5"/>
          <p:cNvSpPr txBox="1"/>
          <p:nvPr/>
        </p:nvSpPr>
        <p:spPr>
          <a:xfrm>
            <a:off x="14804136" y="1399032"/>
            <a:ext cx="3191256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52400" tIns="127000" rIns="152400" bIns="127000">
            <a:spAutoFit/>
          </a:bodyPr>
          <a:lstStyle/>
          <a:p>
            <a:pPr algn="ctr">
              <a:lnSpc>
                <a:spcPct val="98000"/>
              </a:lnSpc>
            </a:pPr>
            <a:r>
              <a:rPr sz="2100" b="1" i="0">
                <a:solidFill>
                  <a:srgbClr val="1C1C1E"/>
                </a:solidFill>
                <a:latin typeface="Segoe UI"/>
              </a:rPr>
              <a:t>Publish + verify</a:t>
            </a:r>
          </a:p>
          <a:p>
            <a:pPr algn="ctr">
              <a:lnSpc>
                <a:spcPct val="96000"/>
              </a:lnSpc>
            </a:pPr>
            <a:r>
              <a:rPr sz="1700" b="0" i="0">
                <a:solidFill>
                  <a:srgbClr val="3A4149"/>
                </a:solidFill>
                <a:latin typeface="Segoe UI"/>
              </a:rPr>
              <a:t>OGC API, ULPIN, hash-chained ledger with Merkle proofs</a:t>
            </a:r>
          </a:p>
        </p:txBody>
      </p:sp>
      <p:sp>
        <p:nvSpPr>
          <p:cNvPr id="16" name="Foundation Note"/>
          <p:cNvSpPr txBox="1"/>
          <p:nvPr/>
        </p:nvSpPr>
        <p:spPr>
          <a:xfrm>
            <a:off x="301752" y="3401568"/>
            <a:ext cx="1767535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1" i="1">
                <a:solidFill>
                  <a:srgbClr val="B35A0F"/>
                </a:solidFill>
                <a:latin typeface="Segoe UI"/>
              </a:rPr>
              <a:t>Every figure here is measured output of one 17-minute run on real Indian government data — no synthetic features anywhere.</a:t>
            </a:r>
          </a:p>
        </p:txBody>
      </p:sp>
      <p:sp>
        <p:nvSpPr>
          <p:cNvPr id="17" name="Benchmark Header"/>
          <p:cNvSpPr txBox="1"/>
          <p:nvPr/>
        </p:nvSpPr>
        <p:spPr>
          <a:xfrm>
            <a:off x="301752" y="3886200"/>
            <a:ext cx="8887968" cy="42976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WE DON’T AVERAGE. WE ADJUDICATE.</a:t>
            </a:r>
          </a:p>
        </p:txBody>
      </p:sp>
      <p:sp>
        <p:nvSpPr>
          <p:cNvPr id="18" name="Impact Header"/>
          <p:cNvSpPr txBox="1"/>
          <p:nvPr/>
        </p:nvSpPr>
        <p:spPr>
          <a:xfrm>
            <a:off x="9400032" y="3886200"/>
            <a:ext cx="8586216" cy="42976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MEASURED IMPACT</a:t>
            </a:r>
          </a:p>
        </p:txBody>
      </p:sp>
      <p:graphicFrame>
        <p:nvGraphicFramePr>
          <p:cNvPr id="19" name="Capability Table"/>
          <p:cNvGraphicFramePr>
            <a:graphicFrameLocks noGrp="1"/>
          </p:cNvGraphicFramePr>
          <p:nvPr/>
        </p:nvGraphicFramePr>
        <p:xfrm>
          <a:off x="301752" y="4370832"/>
          <a:ext cx="8887968" cy="51279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  <a:gridCol w="1691640"/>
                <a:gridCol w="1508760"/>
                <a:gridCol w="1463040"/>
                <a:gridCol w="1481328"/>
              </a:tblGrid>
              <a:tr h="63459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1C1C1E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GEOVAX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1C1C1E"/>
                          </a:solidFill>
                          <a:latin typeface="Segoe UI"/>
                        </a:rPr>
                        <a:t>Manual GIS desk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B35A0F"/>
                          </a:solidFill>
                          <a:latin typeface="Segoe UI"/>
                        </a:rPr>
                        <a:t>ETL / conflation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B35A0F"/>
                          </a:solidFill>
                          <a:latin typeface="Segoe UI"/>
                        </a:rPr>
                        <a:t>GeoAI extraction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6F4F1"/>
                    </a:solidFill>
                  </a:tcPr>
                </a:tc>
              </a:tr>
              <a:tr h="74889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3A4149"/>
                          </a:solidFill>
                          <a:latin typeface="Segoe UI"/>
                        </a:rPr>
                        <a:t>Reconciles 4+ disagreeing sources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700" b="1">
                          <a:solidFill>
                            <a:srgbClr val="1C1C1E"/>
                          </a:solidFill>
                          <a:latin typeface="Segoe UI"/>
                        </a:rPr>
                        <a:t>Automatic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3A4149"/>
                          </a:solidFill>
                          <a:latin typeface="Segoe UI"/>
                        </a:rPr>
                        <a:t>By hand, per parcel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Rule-based only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Single source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3A4149"/>
                          </a:solidFill>
                          <a:latin typeface="Segoe UI"/>
                        </a:rPr>
                        <a:t>Records why each decision was made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700" b="1">
                          <a:solidFill>
                            <a:srgbClr val="1C1C1E"/>
                          </a:solidFill>
                          <a:latin typeface="Segoe UI"/>
                        </a:rPr>
                        <a:t>Ledger + rationale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3A4149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3A4149"/>
                          </a:solidFill>
                          <a:latin typeface="Segoe UI"/>
                        </a:rPr>
                        <a:t>Separates conflict from ignorance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700" b="1">
                          <a:solidFill>
                            <a:srgbClr val="1C1C1E"/>
                          </a:solidFill>
                          <a:latin typeface="Segoe UI"/>
                        </a:rPr>
                        <a:t>Dempster–Shafer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3A4149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3A4149"/>
                          </a:solidFill>
                          <a:latin typeface="Segoe UI"/>
                        </a:rPr>
                        <a:t>Refuses instead of averaging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700" b="1">
                          <a:solidFill>
                            <a:srgbClr val="1C1C1E"/>
                          </a:solidFill>
                          <a:latin typeface="Segoe UI"/>
                        </a:rPr>
                        <a:t>Always, and says so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3A4149"/>
                          </a:solidFill>
                          <a:latin typeface="Segoe UI"/>
                        </a:rPr>
                        <a:t>Analyst-dependent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3A4149"/>
                          </a:solidFill>
                          <a:latin typeface="Segoe UI"/>
                        </a:rPr>
                        <a:t>Per-feature confidence, graded A–E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700" b="1">
                          <a:solidFill>
                            <a:srgbClr val="1C1C1E"/>
                          </a:solidFill>
                          <a:latin typeface="Segoe UI"/>
                        </a:rPr>
                        <a:t>6 dimensions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3A4149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Model score only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500" b="1">
                          <a:solidFill>
                            <a:srgbClr val="3A4149"/>
                          </a:solidFill>
                          <a:latin typeface="Segoe UI"/>
                        </a:rPr>
                        <a:t>Stable identity across mutation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700" b="1">
                          <a:solidFill>
                            <a:srgbClr val="1C1C1E"/>
                          </a:solidFill>
                          <a:latin typeface="Segoe UI"/>
                        </a:rPr>
                        <a:t>ULPIN genealogy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3A4149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600" b="1">
                          <a:solidFill>
                            <a:srgbClr val="B35A0F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Impact 1"/>
          <p:cNvSpPr txBox="1"/>
          <p:nvPr/>
        </p:nvSpPr>
        <p:spPr>
          <a:xfrm>
            <a:off x="9400032" y="4416552"/>
            <a:ext cx="204825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101600" rIns="101600" bIns="1016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107,262</a:t>
            </a:r>
          </a:p>
          <a:p>
            <a:pPr algn="ctr">
              <a:lnSpc>
                <a:spcPct val="94000"/>
              </a:lnSpc>
            </a:pPr>
            <a:r>
              <a:rPr sz="1600" b="0" i="0">
                <a:solidFill>
                  <a:srgbClr val="3A4149"/>
                </a:solidFill>
                <a:latin typeface="Segoe UI"/>
              </a:rPr>
              <a:t>real features harmonised in one run</a:t>
            </a:r>
          </a:p>
        </p:txBody>
      </p:sp>
      <p:sp>
        <p:nvSpPr>
          <p:cNvPr id="21" name="Impact 2"/>
          <p:cNvSpPr txBox="1"/>
          <p:nvPr/>
        </p:nvSpPr>
        <p:spPr>
          <a:xfrm>
            <a:off x="11576304" y="4416552"/>
            <a:ext cx="204825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101600" rIns="101600" bIns="1016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1.51 m @ 073°</a:t>
            </a:r>
          </a:p>
          <a:p>
            <a:pPr algn="ctr">
              <a:lnSpc>
                <a:spcPct val="94000"/>
              </a:lnSpc>
            </a:pPr>
            <a:r>
              <a:rPr sz="1600" b="0" i="0">
                <a:solidFill>
                  <a:srgbClr val="3A4149"/>
                </a:solidFill>
                <a:latin typeface="Segoe UI"/>
              </a:rPr>
              <a:t>systematic offset recovered automatically</a:t>
            </a:r>
          </a:p>
        </p:txBody>
      </p:sp>
      <p:sp>
        <p:nvSpPr>
          <p:cNvPr id="22" name="Impact 3"/>
          <p:cNvSpPr txBox="1"/>
          <p:nvPr/>
        </p:nvSpPr>
        <p:spPr>
          <a:xfrm>
            <a:off x="13752576" y="4416552"/>
            <a:ext cx="204825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101600" rIns="101600" bIns="1016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99.988%</a:t>
            </a:r>
          </a:p>
          <a:p>
            <a:pPr algn="ctr">
              <a:lnSpc>
                <a:spcPct val="94000"/>
              </a:lnSpc>
            </a:pPr>
            <a:r>
              <a:rPr sz="1600" b="0" i="0">
                <a:solidFill>
                  <a:srgbClr val="3A4149"/>
                </a:solidFill>
                <a:latin typeface="Segoe UI"/>
              </a:rPr>
              <a:t>of candidate pairs eliminated by blocking</a:t>
            </a:r>
          </a:p>
        </p:txBody>
      </p:sp>
      <p:sp>
        <p:nvSpPr>
          <p:cNvPr id="23" name="Impact 4"/>
          <p:cNvSpPr txBox="1"/>
          <p:nvPr/>
        </p:nvSpPr>
        <p:spPr>
          <a:xfrm>
            <a:off x="15928848" y="4416552"/>
            <a:ext cx="204825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101600" rIns="101600" bIns="1016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81 / 81</a:t>
            </a:r>
          </a:p>
          <a:p>
            <a:pPr algn="ctr">
              <a:lnSpc>
                <a:spcPct val="94000"/>
              </a:lnSpc>
            </a:pPr>
            <a:r>
              <a:rPr sz="1600" b="0" i="0">
                <a:solidFill>
                  <a:srgbClr val="3A4149"/>
                </a:solidFill>
                <a:latin typeface="Segoe UI"/>
              </a:rPr>
              <a:t>tests passing on the shipped codebase</a:t>
            </a:r>
          </a:p>
        </p:txBody>
      </p:sp>
      <p:sp>
        <p:nvSpPr>
          <p:cNvPr id="24" name="INNOVATION &amp; UNIQUENESS Card"/>
          <p:cNvSpPr txBox="1"/>
          <p:nvPr/>
        </p:nvSpPr>
        <p:spPr>
          <a:xfrm>
            <a:off x="9400032" y="6227064"/>
            <a:ext cx="4224528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5" name="INNOVATION &amp; UNIQUENESS Header"/>
          <p:cNvSpPr txBox="1"/>
          <p:nvPr/>
        </p:nvSpPr>
        <p:spPr>
          <a:xfrm>
            <a:off x="9400032" y="6227064"/>
            <a:ext cx="4224528" cy="42976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INNOVATION &amp; UNIQUENESS</a:t>
            </a:r>
          </a:p>
        </p:txBody>
      </p:sp>
      <p:sp>
        <p:nvSpPr>
          <p:cNvPr id="26" name="INNOVATION &amp; UNIQUENESS Body"/>
          <p:cNvSpPr txBox="1"/>
          <p:nvPr/>
        </p:nvSpPr>
        <p:spPr>
          <a:xfrm>
            <a:off x="9473184" y="6729984"/>
            <a:ext cx="4078224" cy="2688336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tIns="76200" rIns="127000" bIns="762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600" b="1" i="0">
                <a:solidFill>
                  <a:srgbClr val="1C1C1E"/>
                </a:solidFill>
                <a:latin typeface="Segoe UI"/>
              </a:rPr>
              <a:t>Belief and plausibility</a:t>
            </a:r>
          </a:p>
          <a:p>
            <a:pPr algn="l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Mass sits on unknown — the right state when one source has an opinion.</a:t>
            </a:r>
          </a:p>
          <a:p>
            <a:pPr algn="l">
              <a:lnSpc>
                <a:spcPct val="98000"/>
              </a:lnSpc>
              <a:spcBef>
                <a:spcPts val="500"/>
              </a:spcBef>
            </a:pPr>
            <a:r>
              <a:rPr sz="1600" b="1" i="0">
                <a:solidFill>
                  <a:srgbClr val="1C1C1E"/>
                </a:solidFill>
                <a:latin typeface="Segoe UI"/>
              </a:rPr>
              <a:t>The offset is found, not assumed</a:t>
            </a:r>
          </a:p>
          <a:p>
            <a:pPr algn="l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1.51 m @ 073° from 5,226 pairs, by median — unmoved by real change.</a:t>
            </a:r>
          </a:p>
          <a:p>
            <a:pPr algn="l">
              <a:lnSpc>
                <a:spcPct val="98000"/>
              </a:lnSpc>
              <a:spcBef>
                <a:spcPts val="500"/>
              </a:spcBef>
            </a:pPr>
            <a:r>
              <a:rPr sz="1600" b="1" i="0">
                <a:solidFill>
                  <a:srgbClr val="1C1C1E"/>
                </a:solidFill>
                <a:latin typeface="Segoe UI"/>
              </a:rPr>
              <a:t>Refusal is a designed behaviour</a:t>
            </a:r>
          </a:p>
          <a:p>
            <a:pPr algn="l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702 boundaries over 10 m apart went to a human, not to a fusion.</a:t>
            </a:r>
          </a:p>
        </p:txBody>
      </p:sp>
      <p:sp>
        <p:nvSpPr>
          <p:cNvPr id="27" name="BUILT DIFFERENT Card"/>
          <p:cNvSpPr txBox="1"/>
          <p:nvPr/>
        </p:nvSpPr>
        <p:spPr>
          <a:xfrm>
            <a:off x="13752576" y="6227064"/>
            <a:ext cx="4224528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8" name="BUILT DIFFERENT Header"/>
          <p:cNvSpPr txBox="1"/>
          <p:nvPr/>
        </p:nvSpPr>
        <p:spPr>
          <a:xfrm>
            <a:off x="13752576" y="6227064"/>
            <a:ext cx="4224528" cy="42976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BUILT DIFFERENT</a:t>
            </a:r>
          </a:p>
        </p:txBody>
      </p:sp>
      <p:sp>
        <p:nvSpPr>
          <p:cNvPr id="29" name="BUILT DIFFERENT Body"/>
          <p:cNvSpPr txBox="1"/>
          <p:nvPr/>
        </p:nvSpPr>
        <p:spPr>
          <a:xfrm>
            <a:off x="13825728" y="6729984"/>
            <a:ext cx="4078224" cy="2688336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tIns="76200" rIns="127000" bIns="762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600" b="1" i="0">
                <a:solidFill>
                  <a:srgbClr val="3A4149"/>
                </a:solidFill>
                <a:latin typeface="Segoe UI"/>
              </a:rPr>
              <a:t>12,700 lines of Python</a:t>
            </a:r>
          </a:p>
          <a:p>
            <a:pPr algn="l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30 modules, end to end on 2 vCPU / 7 GB, 81 tests passing.</a:t>
            </a:r>
          </a:p>
          <a:p>
            <a:pPr algn="l">
              <a:lnSpc>
                <a:spcPct val="98000"/>
              </a:lnSpc>
              <a:spcBef>
                <a:spcPts val="500"/>
              </a:spcBef>
            </a:pPr>
            <a:r>
              <a:rPr sz="1600" b="1" i="0">
                <a:solidFill>
                  <a:srgbClr val="3A4149"/>
                </a:solidFill>
                <a:latin typeface="Segoe UI"/>
              </a:rPr>
              <a:t>Real government data only</a:t>
            </a:r>
          </a:p>
          <a:p>
            <a:pPr algn="l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TNGIS, NCSCM, GCC, Google Open Buildings — zero synthetic features.</a:t>
            </a:r>
          </a:p>
          <a:p>
            <a:pPr algn="l">
              <a:lnSpc>
                <a:spcPct val="98000"/>
              </a:lnSpc>
              <a:spcBef>
                <a:spcPts val="500"/>
              </a:spcBef>
            </a:pPr>
            <a:r>
              <a:rPr sz="1600" b="1" i="0">
                <a:solidFill>
                  <a:srgbClr val="3A4149"/>
                </a:solidFill>
                <a:latin typeface="Segoe UI"/>
              </a:rPr>
              <a:t>Verifiable, not just published</a:t>
            </a:r>
          </a:p>
          <a:p>
            <a:pPr algn="l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Merkle-anchored ledger a citizen can check independently.</a:t>
            </a:r>
          </a:p>
        </p:txBody>
      </p:sp>
      <p:pic>
        <p:nvPicPr>
          <p:cNvPr id="906" name="Graphic 906" descr="Benchmark leadershi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064" y="3959352"/>
            <a:ext cx="283464" cy="283464"/>
          </a:xfrm>
          <a:prstGeom prst="rect">
            <a:avLst/>
          </a:prstGeom>
        </p:spPr>
      </p:pic>
      <p:pic>
        <p:nvPicPr>
          <p:cNvPr id="907" name="Graphic 907" descr="Innovation and uniquenes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6336" y="6300216"/>
            <a:ext cx="283464" cy="283464"/>
          </a:xfrm>
          <a:prstGeom prst="rect">
            <a:avLst/>
          </a:prstGeom>
        </p:spPr>
      </p:pic>
      <p:pic>
        <p:nvPicPr>
          <p:cNvPr id="908" name="Graphic 908" descr="Built differ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08024" y="6300216"/>
            <a:ext cx="283464" cy="283464"/>
          </a:xfrm>
          <a:prstGeom prst="rect">
            <a:avLst/>
          </a:prstGeom>
        </p:spPr>
      </p:pic>
      <p:pic>
        <p:nvPicPr>
          <p:cNvPr id="909" name="Graphic 909" descr="MPS / API mode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8216" y="1472184"/>
            <a:ext cx="356616" cy="356616"/>
          </a:xfrm>
          <a:prstGeom prst="rect">
            <a:avLst/>
          </a:prstGeom>
        </p:spPr>
      </p:pic>
      <p:pic>
        <p:nvPicPr>
          <p:cNvPr id="910" name="Graphic 910" descr="Presolve and 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9240" y="1472184"/>
            <a:ext cx="356616" cy="356616"/>
          </a:xfrm>
          <a:prstGeom prst="rect">
            <a:avLst/>
          </a:prstGeom>
        </p:spPr>
      </p:pic>
      <p:pic>
        <p:nvPicPr>
          <p:cNvPr id="911" name="Graphic 911" descr="Solve stage powered by GPU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0264" y="1472184"/>
            <a:ext cx="356616" cy="356616"/>
          </a:xfrm>
          <a:prstGeom prst="rect">
            <a:avLst/>
          </a:prstGeom>
        </p:spPr>
      </p:pic>
      <p:pic>
        <p:nvPicPr>
          <p:cNvPr id="912" name="Graphic 912" descr="Postsolve mapp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82144" y="1472184"/>
            <a:ext cx="356616" cy="356616"/>
          </a:xfrm>
          <a:prstGeom prst="rect">
            <a:avLst/>
          </a:prstGeom>
        </p:spPr>
      </p:pic>
      <p:pic>
        <p:nvPicPr>
          <p:cNvPr id="913" name="Graphic 913" descr="Verified 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203168" y="1472184"/>
            <a:ext cx="356616" cy="356616"/>
          </a:xfrm>
          <a:prstGeom prst="rect">
            <a:avLst/>
          </a:prstGeom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23BA2282-F019-EEB1-5B51-8FD96797F08B}"/>
              </a:ext>
            </a:extLst>
          </p:cNvPr>
          <p:cNvGrpSpPr/>
          <p:nvPr/>
        </p:nvGrpSpPr>
        <p:grpSpPr>
          <a:xfrm>
            <a:off x="14731999" y="2248"/>
            <a:ext cx="3312903" cy="1115352"/>
            <a:chOff x="0" y="0"/>
            <a:chExt cx="4499699" cy="2124672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5A386E9E-3DED-F41A-ECC7-49B24FCAE7CA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675960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ine Pill"/>
          <p:cNvSpPr txBox="1"/>
          <p:nvPr/>
        </p:nvSpPr>
        <p:spPr>
          <a:xfrm>
            <a:off x="301752" y="256032"/>
            <a:ext cx="3026664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3A4149"/>
                </a:solidFill>
                <a:latin typeface="Segoe UI"/>
              </a:rPr>
              <a:t>Perpetually Curious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3813048" y="201168"/>
            <a:ext cx="1067104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4600" b="1" i="0">
                <a:solidFill>
                  <a:srgbClr val="1C1C1E"/>
                </a:solidFill>
                <a:latin typeface="Segoe UI"/>
              </a:rPr>
              <a:t>TECHNICAL APPROACH</a:t>
            </a:r>
          </a:p>
        </p:txBody>
      </p:sp>
      <p:sp>
        <p:nvSpPr>
          <p:cNvPr id="4" name="Footer Bar"/>
          <p:cNvSpPr txBox="1"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@SIH Idea submission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6888968" y="990295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127000" bIns="50800">
            <a:spAutoFit/>
          </a:bodyPr>
          <a:lstStyle/>
          <a:p>
            <a:pPr algn="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" name="CORE GEOSPATIAL ENGINE Card"/>
          <p:cNvSpPr txBox="1"/>
          <p:nvPr/>
        </p:nvSpPr>
        <p:spPr>
          <a:xfrm>
            <a:off x="301752" y="1170432"/>
            <a:ext cx="3813048" cy="8330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" name="CORE GEOSPATIAL ENGINE Header"/>
          <p:cNvSpPr txBox="1"/>
          <p:nvPr/>
        </p:nvSpPr>
        <p:spPr>
          <a:xfrm>
            <a:off x="301752" y="1170432"/>
            <a:ext cx="3813048" cy="402336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CORE GEOSPATIAL ENGINE</a:t>
            </a:r>
          </a:p>
        </p:txBody>
      </p:sp>
      <p:sp>
        <p:nvSpPr>
          <p:cNvPr id="8" name="Section Coordinate &amp; Datum Engine"/>
          <p:cNvSpPr txBox="1"/>
          <p:nvPr/>
        </p:nvSpPr>
        <p:spPr>
          <a:xfrm>
            <a:off x="402336" y="1673352"/>
            <a:ext cx="3602736" cy="11704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Coordinate &amp; Datum Engine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Everest 1830 / Kalianpur family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EPSG:7755 India NSF LCC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GCP ladder + Baarda test</a:t>
            </a:r>
          </a:p>
        </p:txBody>
      </p:sp>
      <p:sp>
        <p:nvSpPr>
          <p:cNvPr id="9" name="Section Topology"/>
          <p:cNvSpPr txBox="1"/>
          <p:nvPr/>
        </p:nvSpPr>
        <p:spPr>
          <a:xfrm>
            <a:off x="402336" y="3026664"/>
            <a:ext cx="360273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Topology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15 validation rules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Bounded repair, refused beyond 0.5 m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Planar-partition gap scan</a:t>
            </a:r>
          </a:p>
        </p:txBody>
      </p:sp>
      <p:sp>
        <p:nvSpPr>
          <p:cNvPr id="10" name="Section Spatial Matching"/>
          <p:cNvSpPr txBox="1"/>
          <p:nvPr/>
        </p:nvSpPr>
        <p:spPr>
          <a:xfrm>
            <a:off x="402336" y="4572000"/>
            <a:ext cx="3602736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Spatial Matching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Grid + STRtree blocking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Median offset removal</a:t>
            </a:r>
          </a:p>
        </p:txBody>
      </p:sp>
      <p:sp>
        <p:nvSpPr>
          <p:cNvPr id="11" name="Section Evidence Fusion"/>
          <p:cNvSpPr txBox="1"/>
          <p:nvPr/>
        </p:nvSpPr>
        <p:spPr>
          <a:xfrm>
            <a:off x="402336" y="5614416"/>
            <a:ext cx="3602736" cy="1956816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Evidence Fusion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Dempster–Shafer mass construction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Independence discounting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Statutory rules R-GEO-01 / R-POR-01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Conflict mass retained</a:t>
            </a:r>
          </a:p>
        </p:txBody>
      </p:sp>
      <p:sp>
        <p:nvSpPr>
          <p:cNvPr id="12" name="Section Confidence &amp; Identity"/>
          <p:cNvSpPr txBox="1"/>
          <p:nvPr/>
        </p:nvSpPr>
        <p:spPr>
          <a:xfrm>
            <a:off x="402336" y="7699248"/>
            <a:ext cx="3602736" cy="147218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Confidence &amp; Identity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Six dimensions, graded A–E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ULPIN checksum + genealogy</a:t>
            </a:r>
          </a:p>
          <a:p>
            <a:pPr algn="l" marL="171450" indent="-17145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Hash chain, Merkle inclusion proofs</a:t>
            </a:r>
          </a:p>
        </p:txBody>
      </p:sp>
      <p:sp>
        <p:nvSpPr>
          <p:cNvPr id="13" name="Div"/>
          <p:cNvSpPr txBox="1"/>
          <p:nvPr/>
        </p:nvSpPr>
        <p:spPr>
          <a:xfrm>
            <a:off x="557784" y="2916936"/>
            <a:ext cx="3300984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4" name="Div"/>
          <p:cNvSpPr txBox="1"/>
          <p:nvPr/>
        </p:nvSpPr>
        <p:spPr>
          <a:xfrm>
            <a:off x="557784" y="4498848"/>
            <a:ext cx="3300984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5" name="Div"/>
          <p:cNvSpPr txBox="1"/>
          <p:nvPr/>
        </p:nvSpPr>
        <p:spPr>
          <a:xfrm>
            <a:off x="557784" y="5541264"/>
            <a:ext cx="3300984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6" name="Div"/>
          <p:cNvSpPr txBox="1"/>
          <p:nvPr/>
        </p:nvSpPr>
        <p:spPr>
          <a:xfrm>
            <a:off x="557784" y="7616952"/>
            <a:ext cx="3300984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7" name="PLATFORM ARCHITECTURE Card"/>
          <p:cNvSpPr txBox="1"/>
          <p:nvPr/>
        </p:nvSpPr>
        <p:spPr>
          <a:xfrm>
            <a:off x="4370832" y="1170432"/>
            <a:ext cx="8631936" cy="8330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8" name="PLATFORM ARCHITECTURE Header"/>
          <p:cNvSpPr txBox="1"/>
          <p:nvPr/>
        </p:nvSpPr>
        <p:spPr>
          <a:xfrm>
            <a:off x="4370832" y="1170432"/>
            <a:ext cx="8631936" cy="402336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PLATFORM ARCHITECTURE</a:t>
            </a:r>
          </a:p>
        </p:txBody>
      </p:sp>
      <p:sp>
        <p:nvSpPr>
          <p:cNvPr id="19" name="Producing Authorities"/>
          <p:cNvSpPr txBox="1"/>
          <p:nvPr/>
        </p:nvSpPr>
        <p:spPr>
          <a:xfrm>
            <a:off x="5971032" y="1673352"/>
            <a:ext cx="5431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PRODUCING AUTHORITIES</a:t>
            </a:r>
          </a:p>
          <a:p>
            <a:pPr algn="ctr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Drone / NAKSHA · Revenue · Municipal GIS · Utilities · GNSS · GeoAI</a:t>
            </a:r>
          </a:p>
        </p:txBody>
      </p:sp>
      <p:sp>
        <p:nvSpPr>
          <p:cNvPr id="20" name="Ingest Layer"/>
          <p:cNvSpPr txBox="1"/>
          <p:nvPr/>
        </p:nvSpPr>
        <p:spPr>
          <a:xfrm>
            <a:off x="4544568" y="2441448"/>
            <a:ext cx="8284464" cy="658368"/>
          </a:xfrm>
          <a:prstGeom prst="rect">
            <a:avLst/>
          </a:prstGeom>
          <a:solidFill>
            <a:srgbClr val="FBEEDD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1900" b="1" i="0">
                <a:solidFill>
                  <a:srgbClr val="E2711D"/>
                </a:solidFill>
                <a:latin typeface="Segoe UI"/>
              </a:rPr>
              <a:t>1 · INGEST AND PROFILE</a:t>
            </a:r>
          </a:p>
          <a:p>
            <a:pPr algn="ctr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Format connectors  |  Dataset profiler  |  CRS + datum engine  |  GCP rubber-sheeting</a:t>
            </a:r>
          </a:p>
          <a:p>
            <a:pPr algn="ctr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Claims, not records — nothing entering the platform is treated as fact</a:t>
            </a:r>
          </a:p>
        </p:txBody>
      </p:sp>
      <p:sp>
        <p:nvSpPr>
          <p:cNvPr id="21" name="Harmonise Card"/>
          <p:cNvSpPr txBox="1"/>
          <p:nvPr/>
        </p:nvSpPr>
        <p:spPr>
          <a:xfrm>
            <a:off x="4544568" y="3355848"/>
            <a:ext cx="8284464" cy="1014984"/>
          </a:xfrm>
          <a:prstGeom prst="rect">
            <a:avLst/>
          </a:prstGeom>
          <a:solidFill>
            <a:srgbClr val="F8F6F3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2" name="Harmonise Title"/>
          <p:cNvSpPr txBox="1"/>
          <p:nvPr/>
        </p:nvSpPr>
        <p:spPr>
          <a:xfrm>
            <a:off x="4544568" y="3392424"/>
            <a:ext cx="828446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1C1C1E"/>
                </a:solidFill>
                <a:latin typeface="Segoe UI"/>
              </a:rPr>
              <a:t>2 · HARMONISATION CORE</a:t>
            </a:r>
          </a:p>
        </p:txBody>
      </p:sp>
      <p:sp>
        <p:nvSpPr>
          <p:cNvPr id="23" name="Harmonise Col"/>
          <p:cNvSpPr txBox="1"/>
          <p:nvPr/>
        </p:nvSpPr>
        <p:spPr>
          <a:xfrm>
            <a:off x="5330952" y="3657600"/>
            <a:ext cx="3557016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52400" indent="-152400">
              <a:lnSpc>
                <a:spcPct val="96000"/>
              </a:lnSpc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3A4149"/>
                </a:solidFill>
                <a:latin typeface="Segoe UI"/>
              </a:rPr>
              <a:t>Topology validate + repair</a:t>
            </a:r>
          </a:p>
          <a:p>
            <a:pPr algn="l" marL="152400" indent="-152400">
              <a:lnSpc>
                <a:spcPct val="96000"/>
              </a:lnSpc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3A4149"/>
                </a:solidFill>
                <a:latin typeface="Segoe UI"/>
              </a:rPr>
              <a:t>Automatic schema matching</a:t>
            </a:r>
          </a:p>
          <a:p>
            <a:pPr algn="l" marL="152400" indent="-152400">
              <a:lnSpc>
                <a:spcPct val="96000"/>
              </a:lnSpc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3A4149"/>
                </a:solidFill>
                <a:latin typeface="Segoe UI"/>
              </a:rPr>
              <a:t>Indic transliteration</a:t>
            </a:r>
          </a:p>
        </p:txBody>
      </p:sp>
      <p:sp>
        <p:nvSpPr>
          <p:cNvPr id="24" name="Harmonise Col"/>
          <p:cNvSpPr txBox="1"/>
          <p:nvPr/>
        </p:nvSpPr>
        <p:spPr>
          <a:xfrm>
            <a:off x="9015984" y="3657600"/>
            <a:ext cx="3557016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52400" indent="-152400">
              <a:lnSpc>
                <a:spcPct val="96000"/>
              </a:lnSpc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3A4149"/>
                </a:solidFill>
                <a:latin typeface="Segoe UI"/>
              </a:rPr>
              <a:t>AI/ML spatial matching</a:t>
            </a:r>
          </a:p>
          <a:p>
            <a:pPr algn="l" marL="152400" indent="-152400">
              <a:lnSpc>
                <a:spcPct val="96000"/>
              </a:lnSpc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3A4149"/>
                </a:solidFill>
                <a:latin typeface="Segoe UI"/>
              </a:rPr>
              <a:t>Global assignment + cardinality</a:t>
            </a:r>
          </a:p>
          <a:p>
            <a:pPr algn="l" marL="152400" indent="-152400">
              <a:lnSpc>
                <a:spcPct val="96000"/>
              </a:lnSpc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3A4149"/>
                </a:solidFill>
                <a:latin typeface="Segoe UI"/>
              </a:rPr>
              <a:t>Entity clustering</a:t>
            </a:r>
          </a:p>
        </p:txBody>
      </p:sp>
      <p:sp>
        <p:nvSpPr>
          <p:cNvPr id="25" name="Decision Router"/>
          <p:cNvSpPr txBox="1"/>
          <p:nvPr/>
        </p:nvSpPr>
        <p:spPr>
          <a:xfrm>
            <a:off x="5084064" y="4626864"/>
            <a:ext cx="721461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8000"/>
              </a:lnSpc>
            </a:pPr>
            <a:r>
              <a:rPr sz="1800" b="1" i="0">
                <a:solidFill>
                  <a:srgbClr val="1C1C1E"/>
                </a:solidFill>
                <a:latin typeface="Segoe UI"/>
              </a:rPr>
              <a:t>3 · DECISION LAYER</a:t>
            </a:r>
          </a:p>
          <a:p>
            <a:pPr algn="ctr">
              <a:lnSpc>
                <a:spcPct val="96000"/>
              </a:lnSpc>
            </a:pPr>
            <a:r>
              <a:rPr sz="1500" b="0" i="0">
                <a:solidFill>
                  <a:srgbClr val="3A4149"/>
                </a:solidFill>
                <a:latin typeface="Segoe UI"/>
              </a:rPr>
              <a:t>Which claim survives, and why — recorded either way</a:t>
            </a:r>
          </a:p>
        </p:txBody>
      </p:sp>
      <p:sp>
        <p:nvSpPr>
          <p:cNvPr id="26" name="Algo 1"/>
          <p:cNvSpPr txBox="1"/>
          <p:nvPr/>
        </p:nvSpPr>
        <p:spPr>
          <a:xfrm>
            <a:off x="4517136" y="5458968"/>
            <a:ext cx="2688336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7" name="Algo Title 1"/>
          <p:cNvSpPr txBox="1"/>
          <p:nvPr/>
        </p:nvSpPr>
        <p:spPr>
          <a:xfrm>
            <a:off x="4572000" y="5513832"/>
            <a:ext cx="258775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1C1C1E"/>
                </a:solidFill>
                <a:latin typeface="Segoe UI"/>
              </a:rPr>
              <a:t>A. EVIDENCE FUSION</a:t>
            </a:r>
          </a:p>
        </p:txBody>
      </p:sp>
      <p:sp>
        <p:nvSpPr>
          <p:cNvPr id="28" name="Algo Body 1"/>
          <p:cNvSpPr txBox="1"/>
          <p:nvPr/>
        </p:nvSpPr>
        <p:spPr>
          <a:xfrm>
            <a:off x="4572000" y="5888736"/>
            <a:ext cx="2587752" cy="192938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Dempster–Shafer combination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Independence discounting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Geometric fusion by evidence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629,660 claims fused</a:t>
            </a:r>
          </a:p>
        </p:txBody>
      </p:sp>
      <p:sp>
        <p:nvSpPr>
          <p:cNvPr id="29" name="Algo Note 1"/>
          <p:cNvSpPr txBox="1"/>
          <p:nvPr/>
        </p:nvSpPr>
        <p:spPr>
          <a:xfrm>
            <a:off x="4572000" y="7845552"/>
            <a:ext cx="25877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450" b="1" i="1">
                <a:solidFill>
                  <a:srgbClr val="3A4149"/>
                </a:solidFill>
                <a:latin typeface="Segoe UI"/>
              </a:rPr>
              <a:t>Decides what survives</a:t>
            </a:r>
          </a:p>
        </p:txBody>
      </p:sp>
      <p:sp>
        <p:nvSpPr>
          <p:cNvPr id="30" name="Algo 2"/>
          <p:cNvSpPr txBox="1"/>
          <p:nvPr/>
        </p:nvSpPr>
        <p:spPr>
          <a:xfrm>
            <a:off x="7338060" y="5458968"/>
            <a:ext cx="2688336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1" name="Algo Title 2"/>
          <p:cNvSpPr txBox="1"/>
          <p:nvPr/>
        </p:nvSpPr>
        <p:spPr>
          <a:xfrm>
            <a:off x="7392924" y="5513832"/>
            <a:ext cx="258775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1C1C1E"/>
                </a:solidFill>
                <a:latin typeface="Segoe UI"/>
              </a:rPr>
              <a:t>B. STATUTORY RULE ENGINE</a:t>
            </a:r>
          </a:p>
        </p:txBody>
      </p:sp>
      <p:sp>
        <p:nvSpPr>
          <p:cNvPr id="32" name="Algo Body 2"/>
          <p:cNvSpPr txBox="1"/>
          <p:nvPr/>
        </p:nvSpPr>
        <p:spPr>
          <a:xfrm>
            <a:off x="7392924" y="5888736"/>
            <a:ext cx="2587752" cy="192938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R-GEO-01 — &gt; 10 m refused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R-POR-01 — poramboke findings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R-CTL-01 — control precedence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702 refusals in this run</a:t>
            </a:r>
          </a:p>
        </p:txBody>
      </p:sp>
      <p:sp>
        <p:nvSpPr>
          <p:cNvPr id="33" name="Algo Note 2"/>
          <p:cNvSpPr txBox="1"/>
          <p:nvPr/>
        </p:nvSpPr>
        <p:spPr>
          <a:xfrm>
            <a:off x="7392924" y="7845552"/>
            <a:ext cx="25877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450" b="1" i="1">
                <a:solidFill>
                  <a:srgbClr val="3A4149"/>
                </a:solidFill>
                <a:latin typeface="Segoe UI"/>
              </a:rPr>
              <a:t>Encodes the law</a:t>
            </a:r>
          </a:p>
        </p:txBody>
      </p:sp>
      <p:sp>
        <p:nvSpPr>
          <p:cNvPr id="34" name="Algo 3"/>
          <p:cNvSpPr txBox="1"/>
          <p:nvPr/>
        </p:nvSpPr>
        <p:spPr>
          <a:xfrm>
            <a:off x="10158984" y="5458968"/>
            <a:ext cx="2688336" cy="2688336"/>
          </a:xfrm>
          <a:prstGeom prst="rect">
            <a:avLst/>
          </a:prstGeom>
          <a:solidFill>
            <a:srgbClr val="FBEEDD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5" name="Algo Title 3"/>
          <p:cNvSpPr txBox="1"/>
          <p:nvPr/>
        </p:nvSpPr>
        <p:spPr>
          <a:xfrm>
            <a:off x="10213848" y="5513832"/>
            <a:ext cx="258775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E2711D"/>
                </a:solidFill>
                <a:latin typeface="Segoe UI"/>
              </a:rPr>
              <a:t>C. ADJUDICATION QUEUE</a:t>
            </a:r>
          </a:p>
        </p:txBody>
      </p:sp>
      <p:sp>
        <p:nvSpPr>
          <p:cNvPr id="36" name="Algo Body 3"/>
          <p:cNvSpPr txBox="1"/>
          <p:nvPr/>
        </p:nvSpPr>
        <p:spPr>
          <a:xfrm>
            <a:off x="10213848" y="5888736"/>
            <a:ext cx="2587752" cy="192938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E2711D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20,207 cases escalated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E2711D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Batched by cause, not by case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E2711D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Ranked by decision value</a:t>
            </a:r>
          </a:p>
          <a:p>
            <a:pPr algn="l" marL="152400" indent="-152400">
              <a:lnSpc>
                <a:spcPct val="96000"/>
              </a:lnSpc>
              <a:spcBef>
                <a:spcPts val="200"/>
              </a:spcBef>
              <a:buClr>
                <a:srgbClr val="E2711D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Every decision becomes a label</a:t>
            </a:r>
          </a:p>
        </p:txBody>
      </p:sp>
      <p:sp>
        <p:nvSpPr>
          <p:cNvPr id="37" name="Algo Note 3"/>
          <p:cNvSpPr txBox="1"/>
          <p:nvPr/>
        </p:nvSpPr>
        <p:spPr>
          <a:xfrm>
            <a:off x="10213848" y="7845552"/>
            <a:ext cx="25877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450" b="1" i="1">
                <a:solidFill>
                  <a:srgbClr val="E2711D"/>
                </a:solidFill>
                <a:latin typeface="Segoe UI"/>
              </a:rPr>
              <a:t>Where humans decide</a:t>
            </a:r>
          </a:p>
        </p:txBody>
      </p:sp>
      <p:sp>
        <p:nvSpPr>
          <p:cNvPr id="38" name="Confidence Bar"/>
          <p:cNvSpPr txBox="1"/>
          <p:nvPr/>
        </p:nvSpPr>
        <p:spPr>
          <a:xfrm>
            <a:off x="6227064" y="8485632"/>
            <a:ext cx="4956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1C1C1E"/>
                </a:solidFill>
                <a:latin typeface="Segoe UI"/>
              </a:rPr>
              <a:t>CONFIDENCE SCORING</a:t>
            </a:r>
          </a:p>
          <a:p>
            <a:pPr algn="ctr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Six dimensions, explainable, graded A–E</a:t>
            </a:r>
          </a:p>
        </p:txBody>
      </p:sp>
      <p:sp>
        <p:nvSpPr>
          <p:cNvPr id="39" name="Publication Card"/>
          <p:cNvSpPr txBox="1"/>
          <p:nvPr/>
        </p:nvSpPr>
        <p:spPr>
          <a:xfrm>
            <a:off x="4517136" y="9043416"/>
            <a:ext cx="8330184" cy="457200"/>
          </a:xfrm>
          <a:prstGeom prst="rect">
            <a:avLst/>
          </a:prstGeom>
          <a:solidFill>
            <a:srgbClr val="FBEEDD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0" name="Publication Title"/>
          <p:cNvSpPr txBox="1"/>
          <p:nvPr/>
        </p:nvSpPr>
        <p:spPr>
          <a:xfrm>
            <a:off x="4517136" y="9070848"/>
            <a:ext cx="83301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E2711D"/>
                </a:solidFill>
                <a:latin typeface="Segoe UI"/>
              </a:rPr>
              <a:t>4 · PUBLICATION</a:t>
            </a:r>
          </a:p>
        </p:txBody>
      </p:sp>
      <p:sp>
        <p:nvSpPr>
          <p:cNvPr id="41" name="Publication Col"/>
          <p:cNvSpPr txBox="1"/>
          <p:nvPr/>
        </p:nvSpPr>
        <p:spPr>
          <a:xfrm>
            <a:off x="5257800" y="9281160"/>
            <a:ext cx="3813048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52400" indent="-152400">
              <a:lnSpc>
                <a:spcPct val="94000"/>
              </a:lnSpc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PostGIS canonical store</a:t>
            </a:r>
          </a:p>
          <a:p>
            <a:pPr algn="l" marL="152400" indent="-152400">
              <a:lnSpc>
                <a:spcPct val="94000"/>
              </a:lnSpc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Provenance ledger + Merkle root</a:t>
            </a:r>
          </a:p>
        </p:txBody>
      </p:sp>
      <p:sp>
        <p:nvSpPr>
          <p:cNvPr id="42" name="Publication Col"/>
          <p:cNvSpPr txBox="1"/>
          <p:nvPr/>
        </p:nvSpPr>
        <p:spPr>
          <a:xfrm>
            <a:off x="9171432" y="9281160"/>
            <a:ext cx="3685032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52400" indent="-152400">
              <a:lnSpc>
                <a:spcPct val="94000"/>
              </a:lnSpc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OGC API - Features / STAC</a:t>
            </a:r>
          </a:p>
          <a:p>
            <a:pPr algn="l" marL="152400" indent="-152400">
              <a:lnSpc>
                <a:spcPct val="94000"/>
              </a:lnSpc>
              <a:buClr>
                <a:srgbClr val="16324F"/>
              </a:buClr>
              <a:buFont typeface="Arial"/>
              <a:buChar char="•"/>
            </a:pPr>
            <a:r>
              <a:rPr sz="1350" b="0" i="0">
                <a:solidFill>
                  <a:srgbClr val="3A4149"/>
                </a:solidFill>
                <a:latin typeface="Segoe UI"/>
              </a:rPr>
              <a:t>Subscription bus · Web-GIS console</a:t>
            </a:r>
          </a:p>
        </p:txBody>
      </p:sp>
      <p:sp>
        <p:nvSpPr>
          <p:cNvPr id="43" name="Flow 1"/>
          <p:cNvSpPr/>
          <p:nvPr/>
        </p:nvSpPr>
        <p:spPr>
          <a:xfrm>
            <a:off x="8577072" y="2194560"/>
            <a:ext cx="228600" cy="219456"/>
          </a:xfrm>
          <a:prstGeom prst="down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low 2"/>
          <p:cNvSpPr/>
          <p:nvPr/>
        </p:nvSpPr>
        <p:spPr>
          <a:xfrm>
            <a:off x="8577072" y="3127248"/>
            <a:ext cx="228600" cy="219456"/>
          </a:xfrm>
          <a:prstGeom prst="down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low 3"/>
          <p:cNvSpPr/>
          <p:nvPr/>
        </p:nvSpPr>
        <p:spPr>
          <a:xfrm>
            <a:off x="8577072" y="4398264"/>
            <a:ext cx="228600" cy="219456"/>
          </a:xfrm>
          <a:prstGeom prst="down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low 4"/>
          <p:cNvSpPr/>
          <p:nvPr/>
        </p:nvSpPr>
        <p:spPr>
          <a:xfrm>
            <a:off x="8659368" y="5157216"/>
            <a:ext cx="54864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low 5"/>
          <p:cNvSpPr/>
          <p:nvPr/>
        </p:nvSpPr>
        <p:spPr>
          <a:xfrm>
            <a:off x="5852160" y="5257800"/>
            <a:ext cx="5660136" cy="3657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low 6"/>
          <p:cNvSpPr/>
          <p:nvPr/>
        </p:nvSpPr>
        <p:spPr>
          <a:xfrm>
            <a:off x="5852160" y="5257800"/>
            <a:ext cx="36576" cy="7315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low 7"/>
          <p:cNvSpPr/>
          <p:nvPr/>
        </p:nvSpPr>
        <p:spPr>
          <a:xfrm>
            <a:off x="11484864" y="5257800"/>
            <a:ext cx="36576" cy="7315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low 8"/>
          <p:cNvSpPr/>
          <p:nvPr/>
        </p:nvSpPr>
        <p:spPr>
          <a:xfrm>
            <a:off x="5751576" y="5230368"/>
            <a:ext cx="228600" cy="219456"/>
          </a:xfrm>
          <a:prstGeom prst="down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low 9"/>
          <p:cNvSpPr/>
          <p:nvPr/>
        </p:nvSpPr>
        <p:spPr>
          <a:xfrm>
            <a:off x="8577072" y="5230368"/>
            <a:ext cx="228600" cy="219456"/>
          </a:xfrm>
          <a:prstGeom prst="down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low 10"/>
          <p:cNvSpPr/>
          <p:nvPr/>
        </p:nvSpPr>
        <p:spPr>
          <a:xfrm>
            <a:off x="11393424" y="5230368"/>
            <a:ext cx="228600" cy="219456"/>
          </a:xfrm>
          <a:prstGeom prst="down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low 11"/>
          <p:cNvSpPr/>
          <p:nvPr/>
        </p:nvSpPr>
        <p:spPr>
          <a:xfrm>
            <a:off x="5852160" y="8156448"/>
            <a:ext cx="36576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low 12"/>
          <p:cNvSpPr/>
          <p:nvPr/>
        </p:nvSpPr>
        <p:spPr>
          <a:xfrm>
            <a:off x="8659368" y="8156448"/>
            <a:ext cx="36576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low 13"/>
          <p:cNvSpPr/>
          <p:nvPr/>
        </p:nvSpPr>
        <p:spPr>
          <a:xfrm>
            <a:off x="11484864" y="8156448"/>
            <a:ext cx="36576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low 14"/>
          <p:cNvSpPr/>
          <p:nvPr/>
        </p:nvSpPr>
        <p:spPr>
          <a:xfrm>
            <a:off x="5852160" y="8257032"/>
            <a:ext cx="5660136" cy="3657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low 15"/>
          <p:cNvSpPr/>
          <p:nvPr/>
        </p:nvSpPr>
        <p:spPr>
          <a:xfrm>
            <a:off x="8577072" y="8266176"/>
            <a:ext cx="228600" cy="201168"/>
          </a:xfrm>
          <a:prstGeom prst="down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low 16"/>
          <p:cNvSpPr/>
          <p:nvPr/>
        </p:nvSpPr>
        <p:spPr>
          <a:xfrm>
            <a:off x="8577072" y="8878824"/>
            <a:ext cx="228600" cy="155448"/>
          </a:xfrm>
          <a:prstGeom prst="down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CHNOLOGY STACK Card"/>
          <p:cNvSpPr txBox="1"/>
          <p:nvPr/>
        </p:nvSpPr>
        <p:spPr>
          <a:xfrm>
            <a:off x="13258800" y="1170432"/>
            <a:ext cx="472744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60" name="TECHNOLOGY STACK Header"/>
          <p:cNvSpPr txBox="1"/>
          <p:nvPr/>
        </p:nvSpPr>
        <p:spPr>
          <a:xfrm>
            <a:off x="13258800" y="1170432"/>
            <a:ext cx="4727448" cy="402336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61" name="Tech 1"/>
          <p:cNvSpPr txBox="1"/>
          <p:nvPr/>
        </p:nvSpPr>
        <p:spPr>
          <a:xfrm>
            <a:off x="13414248" y="1636776"/>
            <a:ext cx="4416552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>
                <a:solidFill>
                  <a:srgbClr val="1C1C1E"/>
                </a:solidFill>
                <a:latin typeface="Segoe UI"/>
              </a:rPr>
              <a:t>Python 3.11, Apache-2.0</a:t>
            </a:r>
          </a:p>
          <a:p>
            <a:pPr algn="l">
              <a:lnSpc>
                <a:spcPct val="94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12,700 lines · 30 modules · 81 passing tests</a:t>
            </a:r>
          </a:p>
        </p:txBody>
      </p:sp>
      <p:sp>
        <p:nvSpPr>
          <p:cNvPr id="62" name="Tech 2"/>
          <p:cNvSpPr txBox="1"/>
          <p:nvPr/>
        </p:nvSpPr>
        <p:spPr>
          <a:xfrm>
            <a:off x="13414248" y="2276856"/>
            <a:ext cx="4416552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>
                <a:solidFill>
                  <a:srgbClr val="1C1C1E"/>
                </a:solidFill>
                <a:latin typeface="Segoe UI"/>
              </a:rPr>
              <a:t>PostgreSQL + PostGIS</a:t>
            </a:r>
          </a:p>
          <a:p>
            <a:pPr algn="l">
              <a:lnSpc>
                <a:spcPct val="94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canonical store, exact topological predicates on 6 M parcels</a:t>
            </a:r>
          </a:p>
        </p:txBody>
      </p:sp>
      <p:sp>
        <p:nvSpPr>
          <p:cNvPr id="63" name="TechDiv"/>
          <p:cNvSpPr txBox="1"/>
          <p:nvPr/>
        </p:nvSpPr>
        <p:spPr>
          <a:xfrm>
            <a:off x="13459968" y="2249424"/>
            <a:ext cx="431596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64" name="Tech 3"/>
          <p:cNvSpPr txBox="1"/>
          <p:nvPr/>
        </p:nvSpPr>
        <p:spPr>
          <a:xfrm>
            <a:off x="13414248" y="2916936"/>
            <a:ext cx="4416552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>
                <a:solidFill>
                  <a:srgbClr val="1C1C1E"/>
                </a:solidFill>
                <a:latin typeface="Segoe UI"/>
              </a:rPr>
              <a:t>Shapely / GEOS + STRtree</a:t>
            </a:r>
          </a:p>
          <a:p>
            <a:pPr algn="l">
              <a:lnSpc>
                <a:spcPct val="94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validation, bounded repair, blocking, spatial joins</a:t>
            </a:r>
          </a:p>
        </p:txBody>
      </p:sp>
      <p:sp>
        <p:nvSpPr>
          <p:cNvPr id="65" name="TechDiv"/>
          <p:cNvSpPr txBox="1"/>
          <p:nvPr/>
        </p:nvSpPr>
        <p:spPr>
          <a:xfrm>
            <a:off x="13459968" y="2889504"/>
            <a:ext cx="431596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66" name="Tech 4"/>
          <p:cNvSpPr txBox="1"/>
          <p:nvPr/>
        </p:nvSpPr>
        <p:spPr>
          <a:xfrm>
            <a:off x="13414248" y="3557016"/>
            <a:ext cx="4416552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>
                <a:solidFill>
                  <a:srgbClr val="1C1C1E"/>
                </a:solidFill>
                <a:latin typeface="Segoe UI"/>
              </a:rPr>
              <a:t>PROJ / pyproj</a:t>
            </a:r>
          </a:p>
          <a:p>
            <a:pPr algn="l">
              <a:lnSpc>
                <a:spcPct val="94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Indian datum family, EPSG:7755, EPSG:32644 measurement CRS</a:t>
            </a:r>
          </a:p>
        </p:txBody>
      </p:sp>
      <p:sp>
        <p:nvSpPr>
          <p:cNvPr id="67" name="TechDiv"/>
          <p:cNvSpPr txBox="1"/>
          <p:nvPr/>
        </p:nvSpPr>
        <p:spPr>
          <a:xfrm>
            <a:off x="13459968" y="3529584"/>
            <a:ext cx="431596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68" name="Tech 5"/>
          <p:cNvSpPr txBox="1"/>
          <p:nvPr/>
        </p:nvSpPr>
        <p:spPr>
          <a:xfrm>
            <a:off x="13414248" y="4197096"/>
            <a:ext cx="4416552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>
                <a:solidFill>
                  <a:srgbClr val="1C1C1E"/>
                </a:solidFill>
                <a:latin typeface="Segoe UI"/>
              </a:rPr>
              <a:t>scikit-learn HistGradientBoosting</a:t>
            </a:r>
          </a:p>
          <a:p>
            <a:pPr algn="l">
              <a:lnSpc>
                <a:spcPct val="94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weak-supervised, self-trained spatial matcher</a:t>
            </a:r>
          </a:p>
        </p:txBody>
      </p:sp>
      <p:sp>
        <p:nvSpPr>
          <p:cNvPr id="69" name="TechDiv"/>
          <p:cNvSpPr txBox="1"/>
          <p:nvPr/>
        </p:nvSpPr>
        <p:spPr>
          <a:xfrm>
            <a:off x="13459968" y="4169664"/>
            <a:ext cx="431596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0" name="Tech 6"/>
          <p:cNvSpPr txBox="1"/>
          <p:nvPr/>
        </p:nvSpPr>
        <p:spPr>
          <a:xfrm>
            <a:off x="13414248" y="4837176"/>
            <a:ext cx="4416552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>
                <a:solidFill>
                  <a:srgbClr val="1C1C1E"/>
                </a:solidFill>
                <a:latin typeface="Segoe UI"/>
              </a:rPr>
              <a:t>rasterio / GDAL COG · CityJSON 1.1</a:t>
            </a:r>
          </a:p>
          <a:p>
            <a:pPr algn="l">
              <a:lnSpc>
                <a:spcPct val="94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raster tier, terrain chain, LOD1 city model</a:t>
            </a:r>
          </a:p>
        </p:txBody>
      </p:sp>
      <p:sp>
        <p:nvSpPr>
          <p:cNvPr id="71" name="TechDiv"/>
          <p:cNvSpPr txBox="1"/>
          <p:nvPr/>
        </p:nvSpPr>
        <p:spPr>
          <a:xfrm>
            <a:off x="13459968" y="4809744"/>
            <a:ext cx="431596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2" name="Tech 7"/>
          <p:cNvSpPr txBox="1"/>
          <p:nvPr/>
        </p:nvSpPr>
        <p:spPr>
          <a:xfrm>
            <a:off x="13414248" y="5477256"/>
            <a:ext cx="4416552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>
                <a:solidFill>
                  <a:srgbClr val="1C1C1E"/>
                </a:solidFill>
                <a:latin typeface="Segoe UI"/>
              </a:rPr>
              <a:t>FastAPI · OGC API - Features · MapLibre</a:t>
            </a:r>
          </a:p>
          <a:p>
            <a:pPr algn="l">
              <a:lnSpc>
                <a:spcPct val="94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platform API and the operator console</a:t>
            </a:r>
          </a:p>
        </p:txBody>
      </p:sp>
      <p:sp>
        <p:nvSpPr>
          <p:cNvPr id="73" name="TechDiv"/>
          <p:cNvSpPr txBox="1"/>
          <p:nvPr/>
        </p:nvSpPr>
        <p:spPr>
          <a:xfrm>
            <a:off x="13459968" y="5449824"/>
            <a:ext cx="431596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4" name="OUTPUT SURFACES Card"/>
          <p:cNvSpPr txBox="1"/>
          <p:nvPr/>
        </p:nvSpPr>
        <p:spPr>
          <a:xfrm>
            <a:off x="13258800" y="6345936"/>
            <a:ext cx="4727448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5" name="OUTPUT SURFACES Header"/>
          <p:cNvSpPr txBox="1"/>
          <p:nvPr/>
        </p:nvSpPr>
        <p:spPr>
          <a:xfrm>
            <a:off x="13258800" y="6345936"/>
            <a:ext cx="4727448" cy="402336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OUTPUT SURFACES</a:t>
            </a:r>
          </a:p>
        </p:txBody>
      </p:sp>
      <p:sp>
        <p:nvSpPr>
          <p:cNvPr id="76" name="Badge OGC"/>
          <p:cNvSpPr txBox="1"/>
          <p:nvPr/>
        </p:nvSpPr>
        <p:spPr>
          <a:xfrm>
            <a:off x="13487400" y="6858000"/>
            <a:ext cx="429768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0" tIns="76200" rIns="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OGC</a:t>
            </a:r>
          </a:p>
        </p:txBody>
      </p:sp>
      <p:sp>
        <p:nvSpPr>
          <p:cNvPr id="77" name="Class OGC"/>
          <p:cNvSpPr txBox="1"/>
          <p:nvPr/>
        </p:nvSpPr>
        <p:spPr>
          <a:xfrm>
            <a:off x="14017752" y="6858000"/>
            <a:ext cx="3813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500" b="0" i="0">
                <a:solidFill>
                  <a:srgbClr val="1C1C1E"/>
                </a:solidFill>
                <a:latin typeface="Segoe UI"/>
              </a:rPr>
              <a:t>OGC API - Features + GeoJSON</a:t>
            </a:r>
          </a:p>
        </p:txBody>
      </p:sp>
      <p:sp>
        <p:nvSpPr>
          <p:cNvPr id="78" name="Badge MVT"/>
          <p:cNvSpPr txBox="1"/>
          <p:nvPr/>
        </p:nvSpPr>
        <p:spPr>
          <a:xfrm>
            <a:off x="13487400" y="7276795"/>
            <a:ext cx="429768" cy="38404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wrap="square" anchor="ctr" lIns="0" tIns="76200" rIns="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MVT</a:t>
            </a:r>
          </a:p>
        </p:txBody>
      </p:sp>
      <p:sp>
        <p:nvSpPr>
          <p:cNvPr id="79" name="Class MVT"/>
          <p:cNvSpPr txBox="1"/>
          <p:nvPr/>
        </p:nvSpPr>
        <p:spPr>
          <a:xfrm>
            <a:off x="14017752" y="7276795"/>
            <a:ext cx="3813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500" b="0" i="0">
                <a:solidFill>
                  <a:srgbClr val="1C1C1E"/>
                </a:solidFill>
                <a:latin typeface="Segoe UI"/>
              </a:rPr>
              <a:t>Vector tiles · Web-GIS console</a:t>
            </a:r>
          </a:p>
        </p:txBody>
      </p:sp>
      <p:sp>
        <p:nvSpPr>
          <p:cNvPr id="80" name="Badge ULP"/>
          <p:cNvSpPr txBox="1"/>
          <p:nvPr/>
        </p:nvSpPr>
        <p:spPr>
          <a:xfrm>
            <a:off x="13487400" y="7695590"/>
            <a:ext cx="429768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0" tIns="76200" rIns="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ULP</a:t>
            </a:r>
          </a:p>
        </p:txBody>
      </p:sp>
      <p:sp>
        <p:nvSpPr>
          <p:cNvPr id="81" name="Class ULP"/>
          <p:cNvSpPr txBox="1"/>
          <p:nvPr/>
        </p:nvSpPr>
        <p:spPr>
          <a:xfrm>
            <a:off x="14017752" y="7695590"/>
            <a:ext cx="3813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500" b="0" i="0">
                <a:solidFill>
                  <a:srgbClr val="1C1C1E"/>
                </a:solidFill>
                <a:latin typeface="Segoe UI"/>
              </a:rPr>
              <a:t>ULPIN register with genealogy</a:t>
            </a:r>
          </a:p>
        </p:txBody>
      </p:sp>
      <p:sp>
        <p:nvSpPr>
          <p:cNvPr id="82" name="Badge LOD1"/>
          <p:cNvSpPr txBox="1"/>
          <p:nvPr/>
        </p:nvSpPr>
        <p:spPr>
          <a:xfrm>
            <a:off x="13487400" y="8114386"/>
            <a:ext cx="429768" cy="384048"/>
          </a:xfrm>
          <a:prstGeom prst="rect">
            <a:avLst/>
          </a:prstGeom>
          <a:solidFill>
            <a:srgbClr val="E2711D"/>
          </a:solidFill>
          <a:ln>
            <a:noFill/>
          </a:ln>
        </p:spPr>
        <p:txBody>
          <a:bodyPr wrap="square" anchor="ctr" lIns="0" tIns="76200" rIns="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LOD1</a:t>
            </a:r>
          </a:p>
        </p:txBody>
      </p:sp>
      <p:sp>
        <p:nvSpPr>
          <p:cNvPr id="83" name="Class LOD1"/>
          <p:cNvSpPr txBox="1"/>
          <p:nvPr/>
        </p:nvSpPr>
        <p:spPr>
          <a:xfrm>
            <a:off x="14017752" y="8114386"/>
            <a:ext cx="3813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500" b="0" i="0">
                <a:solidFill>
                  <a:srgbClr val="1C1C1E"/>
                </a:solidFill>
                <a:latin typeface="Segoe UI"/>
              </a:rPr>
              <a:t>CityJSON 1.1 3-D city model</a:t>
            </a:r>
          </a:p>
        </p:txBody>
      </p:sp>
      <p:sp>
        <p:nvSpPr>
          <p:cNvPr id="84" name="Badge QUE"/>
          <p:cNvSpPr txBox="1"/>
          <p:nvPr/>
        </p:nvSpPr>
        <p:spPr>
          <a:xfrm>
            <a:off x="13487400" y="8533181"/>
            <a:ext cx="429768" cy="38404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wrap="square" anchor="ctr" lIns="0" tIns="76200" rIns="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QUE</a:t>
            </a:r>
          </a:p>
        </p:txBody>
      </p:sp>
      <p:sp>
        <p:nvSpPr>
          <p:cNvPr id="85" name="Class QUE"/>
          <p:cNvSpPr txBox="1"/>
          <p:nvPr/>
        </p:nvSpPr>
        <p:spPr>
          <a:xfrm>
            <a:off x="14017752" y="8533181"/>
            <a:ext cx="3813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500" b="0" i="0">
                <a:solidFill>
                  <a:srgbClr val="1C1C1E"/>
                </a:solidFill>
                <a:latin typeface="Segoe UI"/>
              </a:rPr>
              <a:t>Adjudication queue + GeoJSON</a:t>
            </a:r>
          </a:p>
        </p:txBody>
      </p:sp>
      <p:sp>
        <p:nvSpPr>
          <p:cNvPr id="86" name="Badge LGR"/>
          <p:cNvSpPr txBox="1"/>
          <p:nvPr/>
        </p:nvSpPr>
        <p:spPr>
          <a:xfrm>
            <a:off x="13487400" y="8951976"/>
            <a:ext cx="429768" cy="384048"/>
          </a:xfrm>
          <a:prstGeom prst="rect">
            <a:avLst/>
          </a:prstGeom>
          <a:solidFill>
            <a:srgbClr val="E2711D"/>
          </a:solidFill>
          <a:ln>
            <a:noFill/>
          </a:ln>
        </p:spPr>
        <p:txBody>
          <a:bodyPr wrap="square" anchor="ctr" lIns="0" tIns="76200" rIns="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LGR</a:t>
            </a:r>
          </a:p>
        </p:txBody>
      </p:sp>
      <p:sp>
        <p:nvSpPr>
          <p:cNvPr id="87" name="Class LGR"/>
          <p:cNvSpPr txBox="1"/>
          <p:nvPr/>
        </p:nvSpPr>
        <p:spPr>
          <a:xfrm>
            <a:off x="14017752" y="8951976"/>
            <a:ext cx="3813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500" b="0" i="0">
                <a:solidFill>
                  <a:srgbClr val="1C1C1E"/>
                </a:solidFill>
                <a:latin typeface="Segoe UI"/>
              </a:rPr>
              <a:t>Provenance ledger + Merkle root</a:t>
            </a:r>
          </a:p>
        </p:txBody>
      </p:sp>
      <p:pic>
        <p:nvPicPr>
          <p:cNvPr id="169" name="Graphic 169" descr="Core linear algebra engi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336" y="1261872"/>
            <a:ext cx="283464" cy="283464"/>
          </a:xfrm>
          <a:prstGeom prst="rect">
            <a:avLst/>
          </a:prstGeom>
        </p:spPr>
      </p:pic>
      <p:pic>
        <p:nvPicPr>
          <p:cNvPr id="170" name="Graphic 170" descr="Solver architectu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234440"/>
            <a:ext cx="283464" cy="283464"/>
          </a:xfrm>
          <a:prstGeom prst="rect">
            <a:avLst/>
          </a:prstGeom>
        </p:spPr>
      </p:pic>
      <p:pic>
        <p:nvPicPr>
          <p:cNvPr id="171" name="Graphic 171" descr="Technology st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32536" y="1234440"/>
            <a:ext cx="283464" cy="283464"/>
          </a:xfrm>
          <a:prstGeom prst="rect">
            <a:avLst/>
          </a:prstGeom>
        </p:spPr>
      </p:pic>
      <p:pic>
        <p:nvPicPr>
          <p:cNvPr id="172" name="Graphic 172" descr="Problem class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32536" y="6409944"/>
            <a:ext cx="283464" cy="283464"/>
          </a:xfrm>
          <a:prstGeom prst="rect">
            <a:avLst/>
          </a:prstGeom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E9A9D87C-BB39-2D16-4511-A207967FDB70}"/>
              </a:ext>
            </a:extLst>
          </p:cNvPr>
          <p:cNvGrpSpPr/>
          <p:nvPr/>
        </p:nvGrpSpPr>
        <p:grpSpPr>
          <a:xfrm>
            <a:off x="14731999" y="2248"/>
            <a:ext cx="3312903" cy="1115352"/>
            <a:chOff x="0" y="0"/>
            <a:chExt cx="4499699" cy="2124672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1A470FA5-53C2-D319-EA99-E68E9B026C96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067982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ine Pill"/>
          <p:cNvSpPr txBox="1"/>
          <p:nvPr/>
        </p:nvSpPr>
        <p:spPr>
          <a:xfrm>
            <a:off x="301752" y="228600"/>
            <a:ext cx="3026664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3A4149"/>
                </a:solidFill>
                <a:latin typeface="Segoe UI"/>
              </a:rPr>
              <a:t>Perpetually Curious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3813048" y="173736"/>
            <a:ext cx="1067104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4600" b="1" i="0">
                <a:solidFill>
                  <a:srgbClr val="1C1C1E"/>
                </a:solidFill>
                <a:latin typeface="Segoe UI"/>
              </a:rPr>
              <a:t>IMPACT &amp; BENEFITS</a:t>
            </a:r>
          </a:p>
        </p:txBody>
      </p:sp>
      <p:sp>
        <p:nvSpPr>
          <p:cNvPr id="4" name="Footer Bar"/>
          <p:cNvSpPr txBox="1"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@SIH Idea submission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6888968" y="990295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127000" bIns="50800">
            <a:spAutoFit/>
          </a:bodyPr>
          <a:lstStyle/>
          <a:p>
            <a:pPr algn="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" name="CORPUS SCALE Card"/>
          <p:cNvSpPr txBox="1"/>
          <p:nvPr/>
        </p:nvSpPr>
        <p:spPr>
          <a:xfrm>
            <a:off x="301752" y="1115568"/>
            <a:ext cx="4828032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" name="CORPUS SCALE Header"/>
          <p:cNvSpPr txBox="1"/>
          <p:nvPr/>
        </p:nvSpPr>
        <p:spPr>
          <a:xfrm>
            <a:off x="301752" y="1115568"/>
            <a:ext cx="4828032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CORPUS SCALE</a:t>
            </a:r>
          </a:p>
        </p:txBody>
      </p:sp>
      <p:pic>
        <p:nvPicPr>
          <p:cNvPr id="8" name="Picture 7" descr="corpu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36" y="1527048"/>
            <a:ext cx="4626864" cy="2212848"/>
          </a:xfrm>
          <a:prstGeom prst="rect">
            <a:avLst/>
          </a:prstGeom>
        </p:spPr>
      </p:pic>
      <p:sp>
        <p:nvSpPr>
          <p:cNvPr id="9" name="Corpus Label"/>
          <p:cNvSpPr txBox="1"/>
          <p:nvPr/>
        </p:nvSpPr>
        <p:spPr>
          <a:xfrm>
            <a:off x="960120" y="153619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500" b="1" i="0">
                <a:solidFill>
                  <a:srgbClr val="B35A0F"/>
                </a:solidFill>
                <a:latin typeface="Segoe UI"/>
              </a:rPr>
              <a:t>4 real sources</a:t>
            </a:r>
          </a:p>
        </p:txBody>
      </p:sp>
      <p:sp>
        <p:nvSpPr>
          <p:cNvPr id="10" name="OPERATIONAL IMPACT Card"/>
          <p:cNvSpPr txBox="1"/>
          <p:nvPr/>
        </p:nvSpPr>
        <p:spPr>
          <a:xfrm>
            <a:off x="5285232" y="1115568"/>
            <a:ext cx="5330952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1" name="OPERATIONAL IMPACT Header"/>
          <p:cNvSpPr txBox="1"/>
          <p:nvPr/>
        </p:nvSpPr>
        <p:spPr>
          <a:xfrm>
            <a:off x="5285232" y="1115568"/>
            <a:ext cx="5330952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OPERATIONAL IMPACT</a:t>
            </a:r>
          </a:p>
        </p:txBody>
      </p:sp>
      <p:sp>
        <p:nvSpPr>
          <p:cNvPr id="12" name="Runtime Title"/>
          <p:cNvSpPr txBox="1"/>
          <p:nvPr/>
        </p:nvSpPr>
        <p:spPr>
          <a:xfrm>
            <a:off x="5385816" y="1545336"/>
            <a:ext cx="5129784" cy="5577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1C1C1E"/>
                </a:solidFill>
                <a:latin typeface="Segoe UI"/>
              </a:rPr>
              <a:t>END-TO-END HARMONISATION OF 22.3 km²</a:t>
            </a:r>
          </a:p>
          <a:p>
            <a:pPr algn="ctr">
              <a:lnSpc>
                <a:spcPct val="96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(2 vCPU · 7 GB · 12 checkpointed stages)</a:t>
            </a:r>
          </a:p>
        </p:txBody>
      </p:sp>
      <p:sp>
        <p:nvSpPr>
          <p:cNvPr id="13" name="Runtime Value"/>
          <p:cNvSpPr txBox="1"/>
          <p:nvPr/>
        </p:nvSpPr>
        <p:spPr>
          <a:xfrm>
            <a:off x="5385816" y="2130552"/>
            <a:ext cx="51297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3000" b="1" i="0">
                <a:solidFill>
                  <a:srgbClr val="1C1C1E"/>
                </a:solidFill>
                <a:latin typeface="Segoe UI"/>
              </a:rPr>
              <a:t>17 min 45 s</a:t>
            </a:r>
          </a:p>
        </p:txBody>
      </p:sp>
      <p:sp>
        <p:nvSpPr>
          <p:cNvPr id="14" name="Range Bar"/>
          <p:cNvSpPr txBox="1"/>
          <p:nvPr/>
        </p:nvSpPr>
        <p:spPr>
          <a:xfrm>
            <a:off x="5742432" y="2688336"/>
            <a:ext cx="4416552" cy="128016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5" name="Range Knob"/>
          <p:cNvSpPr txBox="1"/>
          <p:nvPr/>
        </p:nvSpPr>
        <p:spPr>
          <a:xfrm>
            <a:off x="7827264" y="2615184"/>
            <a:ext cx="256032" cy="256032"/>
          </a:xfrm>
          <a:prstGeom prst="rect">
            <a:avLst/>
          </a:prstGeom>
          <a:solidFill>
            <a:srgbClr val="FFFFFF"/>
          </a:solidFill>
          <a:ln w="2540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6" name="Range Low"/>
          <p:cNvSpPr txBox="1"/>
          <p:nvPr/>
        </p:nvSpPr>
        <p:spPr>
          <a:xfrm>
            <a:off x="5385816" y="27980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Single-ULB pilot</a:t>
            </a:r>
          </a:p>
        </p:txBody>
      </p:sp>
      <p:sp>
        <p:nvSpPr>
          <p:cNvPr id="17" name="Range High"/>
          <p:cNvSpPr txBox="1"/>
          <p:nvPr/>
        </p:nvSpPr>
        <p:spPr>
          <a:xfrm>
            <a:off x="8229600" y="27980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r">
              <a:lnSpc>
                <a:spcPct val="96000"/>
              </a:lnSpc>
            </a:pPr>
            <a:r>
              <a:rPr sz="1400" b="0" i="0">
                <a:solidFill>
                  <a:srgbClr val="3A4149"/>
                </a:solidFill>
                <a:latin typeface="Segoe UI"/>
              </a:rPr>
              <a:t>State: 6 M+ parcels</a:t>
            </a:r>
          </a:p>
        </p:txBody>
      </p:sp>
      <p:sp>
        <p:nvSpPr>
          <p:cNvPr id="18" name="Chip"/>
          <p:cNvSpPr txBox="1"/>
          <p:nvPr/>
        </p:nvSpPr>
        <p:spPr>
          <a:xfrm>
            <a:off x="5413248" y="3218688"/>
            <a:ext cx="24871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250" b="1" i="0">
                <a:solidFill>
                  <a:srgbClr val="1C1C1E"/>
                </a:solidFill>
                <a:latin typeface="Segoe UI"/>
              </a:rPr>
              <a:t>107,262 FEATURES PUBLISHED</a:t>
            </a:r>
          </a:p>
          <a:p>
            <a:pPr algn="ctr">
              <a:lnSpc>
                <a:spcPct val="94000"/>
              </a:lnSpc>
            </a:pPr>
            <a:r>
              <a:rPr sz="1250" b="1" i="0">
                <a:solidFill>
                  <a:srgbClr val="1C1C1E"/>
                </a:solidFill>
                <a:latin typeface="Segoe UI"/>
              </a:rPr>
              <a:t>PER RUN, WITH PROVENANCE</a:t>
            </a:r>
          </a:p>
        </p:txBody>
      </p:sp>
      <p:sp>
        <p:nvSpPr>
          <p:cNvPr id="19" name="Chip"/>
          <p:cNvSpPr txBox="1"/>
          <p:nvPr/>
        </p:nvSpPr>
        <p:spPr>
          <a:xfrm>
            <a:off x="8001000" y="3218688"/>
            <a:ext cx="24871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250" b="1" i="0">
                <a:solidFill>
                  <a:srgbClr val="1C1C1E"/>
                </a:solidFill>
                <a:latin typeface="Segoe UI"/>
              </a:rPr>
              <a:t>RESUMABLE, REPRODUCIBLE,</a:t>
            </a:r>
          </a:p>
          <a:p>
            <a:pPr algn="ctr">
              <a:lnSpc>
                <a:spcPct val="94000"/>
              </a:lnSpc>
            </a:pPr>
            <a:r>
              <a:rPr sz="1250" b="1" i="0">
                <a:solidFill>
                  <a:srgbClr val="1C1C1E"/>
                </a:solidFill>
                <a:latin typeface="Segoe UI"/>
              </a:rPr>
              <a:t>RUNS FULLY OFFLINE</a:t>
            </a:r>
          </a:p>
        </p:txBody>
      </p:sp>
      <p:sp>
        <p:nvSpPr>
          <p:cNvPr id="20" name="ECOSYSTEM &amp; ADOPTION Card"/>
          <p:cNvSpPr txBox="1"/>
          <p:nvPr/>
        </p:nvSpPr>
        <p:spPr>
          <a:xfrm>
            <a:off x="10771632" y="1115568"/>
            <a:ext cx="7214616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1" name="ECOSYSTEM &amp; ADOPTION Header"/>
          <p:cNvSpPr txBox="1"/>
          <p:nvPr/>
        </p:nvSpPr>
        <p:spPr>
          <a:xfrm>
            <a:off x="10771632" y="1115568"/>
            <a:ext cx="7214616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ECOSYSTEM &amp; ADOPTION</a:t>
            </a:r>
          </a:p>
        </p:txBody>
      </p:sp>
      <p:sp>
        <p:nvSpPr>
          <p:cNvPr id="22" name="Eco Label 0"/>
          <p:cNvSpPr txBox="1"/>
          <p:nvPr/>
        </p:nvSpPr>
        <p:spPr>
          <a:xfrm>
            <a:off x="10872216" y="1527048"/>
            <a:ext cx="1901952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50800" bIns="50800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i="0">
                <a:solidFill>
                  <a:srgbClr val="3A4149"/>
                </a:solidFill>
                <a:latin typeface="Segoe UI"/>
              </a:rPr>
              <a:t>PROGRAMMES</a:t>
            </a:r>
          </a:p>
        </p:txBody>
      </p:sp>
      <p:sp>
        <p:nvSpPr>
          <p:cNvPr id="23" name="Eco Item 0-0"/>
          <p:cNvSpPr txBox="1"/>
          <p:nvPr/>
        </p:nvSpPr>
        <p:spPr>
          <a:xfrm>
            <a:off x="12774168" y="15270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DILRMP</a:t>
            </a:r>
          </a:p>
        </p:txBody>
      </p:sp>
      <p:sp>
        <p:nvSpPr>
          <p:cNvPr id="24" name="Eco Item 0-1"/>
          <p:cNvSpPr txBox="1"/>
          <p:nvPr/>
        </p:nvSpPr>
        <p:spPr>
          <a:xfrm>
            <a:off x="14474952" y="15270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NAKSHA</a:t>
            </a:r>
          </a:p>
        </p:txBody>
      </p:sp>
      <p:sp>
        <p:nvSpPr>
          <p:cNvPr id="25" name="EcoDiv"/>
          <p:cNvSpPr txBox="1"/>
          <p:nvPr/>
        </p:nvSpPr>
        <p:spPr>
          <a:xfrm>
            <a:off x="14474952" y="1627632"/>
            <a:ext cx="9144" cy="36576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6" name="Eco Item 0-2"/>
          <p:cNvSpPr txBox="1"/>
          <p:nvPr/>
        </p:nvSpPr>
        <p:spPr>
          <a:xfrm>
            <a:off x="16175736" y="15270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AMRUT / Bhuvan</a:t>
            </a:r>
          </a:p>
        </p:txBody>
      </p:sp>
      <p:sp>
        <p:nvSpPr>
          <p:cNvPr id="27" name="EcoDiv"/>
          <p:cNvSpPr txBox="1"/>
          <p:nvPr/>
        </p:nvSpPr>
        <p:spPr>
          <a:xfrm>
            <a:off x="16175736" y="1627632"/>
            <a:ext cx="9144" cy="36576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8" name="Eco Label 1"/>
          <p:cNvSpPr txBox="1"/>
          <p:nvPr/>
        </p:nvSpPr>
        <p:spPr>
          <a:xfrm>
            <a:off x="10872216" y="2098548"/>
            <a:ext cx="1901952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50800" bIns="50800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i="0">
                <a:solidFill>
                  <a:srgbClr val="3A4149"/>
                </a:solidFill>
                <a:latin typeface="Segoe UI"/>
              </a:rPr>
              <a:t>REGISTRIES &amp; POLICY</a:t>
            </a:r>
          </a:p>
        </p:txBody>
      </p:sp>
      <p:sp>
        <p:nvSpPr>
          <p:cNvPr id="29" name="Eco Item 1-0"/>
          <p:cNvSpPr txBox="1"/>
          <p:nvPr/>
        </p:nvSpPr>
        <p:spPr>
          <a:xfrm>
            <a:off x="12774168" y="20985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LGD Directory</a:t>
            </a:r>
          </a:p>
        </p:txBody>
      </p:sp>
      <p:sp>
        <p:nvSpPr>
          <p:cNvPr id="30" name="Eco Item 1-1"/>
          <p:cNvSpPr txBox="1"/>
          <p:nvPr/>
        </p:nvSpPr>
        <p:spPr>
          <a:xfrm>
            <a:off x="14474952" y="20985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Nat. Geospatial Policy 2022</a:t>
            </a:r>
          </a:p>
        </p:txBody>
      </p:sp>
      <p:sp>
        <p:nvSpPr>
          <p:cNvPr id="31" name="EcoDiv"/>
          <p:cNvSpPr txBox="1"/>
          <p:nvPr/>
        </p:nvSpPr>
        <p:spPr>
          <a:xfrm>
            <a:off x="14474952" y="2199132"/>
            <a:ext cx="9144" cy="36576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2" name="Eco Item 1-2"/>
          <p:cNvSpPr txBox="1"/>
          <p:nvPr/>
        </p:nvSpPr>
        <p:spPr>
          <a:xfrm>
            <a:off x="16175736" y="20985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DPDP Act 2023</a:t>
            </a:r>
          </a:p>
        </p:txBody>
      </p:sp>
      <p:sp>
        <p:nvSpPr>
          <p:cNvPr id="33" name="EcoDiv"/>
          <p:cNvSpPr txBox="1"/>
          <p:nvPr/>
        </p:nvSpPr>
        <p:spPr>
          <a:xfrm>
            <a:off x="16175736" y="2199132"/>
            <a:ext cx="9144" cy="36576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4" name="EcoRowDiv"/>
          <p:cNvSpPr txBox="1"/>
          <p:nvPr/>
        </p:nvSpPr>
        <p:spPr>
          <a:xfrm>
            <a:off x="10872216" y="2098548"/>
            <a:ext cx="701344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5" name="Eco Label 2"/>
          <p:cNvSpPr txBox="1"/>
          <p:nvPr/>
        </p:nvSpPr>
        <p:spPr>
          <a:xfrm>
            <a:off x="10872216" y="2670048"/>
            <a:ext cx="1901952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50800" bIns="50800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i="0">
                <a:solidFill>
                  <a:srgbClr val="3A4149"/>
                </a:solidFill>
                <a:latin typeface="Segoe UI"/>
              </a:rPr>
              <a:t>OPEN STANDARDS</a:t>
            </a:r>
          </a:p>
        </p:txBody>
      </p:sp>
      <p:sp>
        <p:nvSpPr>
          <p:cNvPr id="36" name="Eco Item 2-0"/>
          <p:cNvSpPr txBox="1"/>
          <p:nvPr/>
        </p:nvSpPr>
        <p:spPr>
          <a:xfrm>
            <a:off x="12774168" y="2670048"/>
            <a:ext cx="5102352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50" b="1" i="0">
                <a:solidFill>
                  <a:srgbClr val="1C1C1E"/>
                </a:solidFill>
                <a:latin typeface="Segoe UI"/>
              </a:rPr>
              <a:t>OGC API - Features · GeoJSON · CityJSON 1.1 · ISO 19107 / 19115</a:t>
            </a:r>
          </a:p>
        </p:txBody>
      </p:sp>
      <p:sp>
        <p:nvSpPr>
          <p:cNvPr id="37" name="EcoRowDiv"/>
          <p:cNvSpPr txBox="1"/>
          <p:nvPr/>
        </p:nvSpPr>
        <p:spPr>
          <a:xfrm>
            <a:off x="10872216" y="2670048"/>
            <a:ext cx="701344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8" name="Eco Label 3"/>
          <p:cNvSpPr txBox="1"/>
          <p:nvPr/>
        </p:nvSpPr>
        <p:spPr>
          <a:xfrm>
            <a:off x="10872216" y="3241548"/>
            <a:ext cx="1901952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50800" bIns="50800">
            <a:spAutoFit/>
          </a:bodyPr>
          <a:lstStyle/>
          <a:p>
            <a:pPr algn="l">
              <a:lnSpc>
                <a:spcPct val="94000"/>
              </a:lnSpc>
            </a:pPr>
            <a:r>
              <a:rPr sz="1250" b="1" i="0">
                <a:solidFill>
                  <a:srgbClr val="3A4149"/>
                </a:solidFill>
                <a:latin typeface="Segoe UI"/>
              </a:rPr>
              <a:t>DEPARTMENTS SERVED</a:t>
            </a:r>
          </a:p>
        </p:txBody>
      </p:sp>
      <p:sp>
        <p:nvSpPr>
          <p:cNvPr id="39" name="Eco Item 3-0"/>
          <p:cNvSpPr txBox="1"/>
          <p:nvPr/>
        </p:nvSpPr>
        <p:spPr>
          <a:xfrm>
            <a:off x="12774168" y="32415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Revenue / Survey</a:t>
            </a:r>
          </a:p>
        </p:txBody>
      </p:sp>
      <p:sp>
        <p:nvSpPr>
          <p:cNvPr id="40" name="Eco Item 3-1"/>
          <p:cNvSpPr txBox="1"/>
          <p:nvPr/>
        </p:nvSpPr>
        <p:spPr>
          <a:xfrm>
            <a:off x="14474952" y="32415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Municipal ULB</a:t>
            </a:r>
          </a:p>
        </p:txBody>
      </p:sp>
      <p:sp>
        <p:nvSpPr>
          <p:cNvPr id="41" name="EcoDiv"/>
          <p:cNvSpPr txBox="1"/>
          <p:nvPr/>
        </p:nvSpPr>
        <p:spPr>
          <a:xfrm>
            <a:off x="14474952" y="3342132"/>
            <a:ext cx="9144" cy="36576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2" name="Eco Item 3-2"/>
          <p:cNvSpPr txBox="1"/>
          <p:nvPr/>
        </p:nvSpPr>
        <p:spPr>
          <a:xfrm>
            <a:off x="16175736" y="3241548"/>
            <a:ext cx="17007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50800" bIns="50800">
            <a:spAutoFit/>
          </a:bodyPr>
          <a:lstStyle/>
          <a:p>
            <a:pPr algn="ctr">
              <a:lnSpc>
                <a:spcPct val="94000"/>
              </a:lnSpc>
            </a:pPr>
            <a:r>
              <a:rPr sz="1300" b="1" i="0">
                <a:solidFill>
                  <a:srgbClr val="1C1C1E"/>
                </a:solidFill>
                <a:latin typeface="Segoe UI"/>
              </a:rPr>
              <a:t>DoLR / State GIS</a:t>
            </a:r>
          </a:p>
        </p:txBody>
      </p:sp>
      <p:sp>
        <p:nvSpPr>
          <p:cNvPr id="43" name="EcoDiv"/>
          <p:cNvSpPr txBox="1"/>
          <p:nvPr/>
        </p:nvSpPr>
        <p:spPr>
          <a:xfrm>
            <a:off x="16175736" y="3342132"/>
            <a:ext cx="9144" cy="36576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4" name="EcoRowDiv"/>
          <p:cNvSpPr txBox="1"/>
          <p:nvPr/>
        </p:nvSpPr>
        <p:spPr>
          <a:xfrm>
            <a:off x="10872216" y="3241548"/>
            <a:ext cx="7013448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5" name="Metrics Strip"/>
          <p:cNvSpPr txBox="1"/>
          <p:nvPr/>
        </p:nvSpPr>
        <p:spPr>
          <a:xfrm>
            <a:off x="301752" y="3913632"/>
            <a:ext cx="17675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6" name="Metric 1"/>
          <p:cNvSpPr txBox="1"/>
          <p:nvPr/>
        </p:nvSpPr>
        <p:spPr>
          <a:xfrm>
            <a:off x="301752" y="3986784"/>
            <a:ext cx="2944368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22.3 km²</a:t>
            </a:r>
          </a:p>
          <a:p>
            <a:pPr algn="ctr">
              <a:lnSpc>
                <a:spcPct val="92000"/>
              </a:lnSpc>
            </a:pPr>
            <a:r>
              <a:rPr sz="1500" b="0" i="0">
                <a:solidFill>
                  <a:srgbClr val="3A4149"/>
                </a:solidFill>
                <a:latin typeface="Segoe UI"/>
              </a:rPr>
              <a:t>Central Chennai harmonised per run</a:t>
            </a:r>
          </a:p>
        </p:txBody>
      </p:sp>
      <p:sp>
        <p:nvSpPr>
          <p:cNvPr id="47" name="Metric 2"/>
          <p:cNvSpPr txBox="1"/>
          <p:nvPr/>
        </p:nvSpPr>
        <p:spPr>
          <a:xfrm>
            <a:off x="3246120" y="3986784"/>
            <a:ext cx="2944368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6.02 M</a:t>
            </a:r>
          </a:p>
          <a:p>
            <a:pPr algn="ctr">
              <a:lnSpc>
                <a:spcPct val="92000"/>
              </a:lnSpc>
            </a:pPr>
            <a:r>
              <a:rPr sz="1500" b="0" i="0">
                <a:solidFill>
                  <a:srgbClr val="3A4149"/>
                </a:solidFill>
                <a:latin typeface="Segoe UI"/>
              </a:rPr>
              <a:t>TNGIS parcels ingested statewide</a:t>
            </a:r>
          </a:p>
        </p:txBody>
      </p:sp>
      <p:sp>
        <p:nvSpPr>
          <p:cNvPr id="48" name="MetDiv"/>
          <p:cNvSpPr txBox="1"/>
          <p:nvPr/>
        </p:nvSpPr>
        <p:spPr>
          <a:xfrm>
            <a:off x="3246120" y="4087368"/>
            <a:ext cx="9144" cy="630936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9" name="Metric 3"/>
          <p:cNvSpPr txBox="1"/>
          <p:nvPr/>
        </p:nvSpPr>
        <p:spPr>
          <a:xfrm>
            <a:off x="6190488" y="3986784"/>
            <a:ext cx="2944368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43.4%</a:t>
            </a:r>
          </a:p>
          <a:p>
            <a:pPr algn="ctr">
              <a:lnSpc>
                <a:spcPct val="92000"/>
              </a:lnSpc>
            </a:pPr>
            <a:r>
              <a:rPr sz="1500" b="0" i="0">
                <a:solidFill>
                  <a:srgbClr val="3A4149"/>
                </a:solidFill>
                <a:latin typeface="Segoe UI"/>
              </a:rPr>
              <a:t>Conflicts closed with no human involved</a:t>
            </a:r>
          </a:p>
        </p:txBody>
      </p:sp>
      <p:sp>
        <p:nvSpPr>
          <p:cNvPr id="50" name="MetDiv"/>
          <p:cNvSpPr txBox="1"/>
          <p:nvPr/>
        </p:nvSpPr>
        <p:spPr>
          <a:xfrm>
            <a:off x="6190488" y="4087368"/>
            <a:ext cx="9144" cy="630936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1" name="Metric 4"/>
          <p:cNvSpPr txBox="1"/>
          <p:nvPr/>
        </p:nvSpPr>
        <p:spPr>
          <a:xfrm>
            <a:off x="9134856" y="3986784"/>
            <a:ext cx="2944368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0.9997</a:t>
            </a:r>
          </a:p>
          <a:p>
            <a:pPr algn="ctr">
              <a:lnSpc>
                <a:spcPct val="92000"/>
              </a:lnSpc>
            </a:pPr>
            <a:r>
              <a:rPr sz="1500" b="0" i="0">
                <a:solidFill>
                  <a:srgbClr val="3A4149"/>
                </a:solidFill>
                <a:latin typeface="Segoe UI"/>
              </a:rPr>
              <a:t>Mean topological confidence across the AOI</a:t>
            </a:r>
          </a:p>
        </p:txBody>
      </p:sp>
      <p:sp>
        <p:nvSpPr>
          <p:cNvPr id="52" name="MetDiv"/>
          <p:cNvSpPr txBox="1"/>
          <p:nvPr/>
        </p:nvSpPr>
        <p:spPr>
          <a:xfrm>
            <a:off x="9134856" y="4087368"/>
            <a:ext cx="9144" cy="630936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3" name="Metric 5"/>
          <p:cNvSpPr txBox="1"/>
          <p:nvPr/>
        </p:nvSpPr>
        <p:spPr>
          <a:xfrm>
            <a:off x="12079224" y="3986784"/>
            <a:ext cx="2944368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100%</a:t>
            </a:r>
          </a:p>
          <a:p>
            <a:pPr algn="ctr">
              <a:lnSpc>
                <a:spcPct val="92000"/>
              </a:lnSpc>
            </a:pPr>
            <a:r>
              <a:rPr sz="1500" b="0" i="0">
                <a:solidFill>
                  <a:srgbClr val="3A4149"/>
                </a:solidFill>
                <a:latin typeface="Segoe UI"/>
              </a:rPr>
              <a:t>ULPIN single-character errors detected</a:t>
            </a:r>
          </a:p>
        </p:txBody>
      </p:sp>
      <p:sp>
        <p:nvSpPr>
          <p:cNvPr id="54" name="MetDiv"/>
          <p:cNvSpPr txBox="1"/>
          <p:nvPr/>
        </p:nvSpPr>
        <p:spPr>
          <a:xfrm>
            <a:off x="12079224" y="4087368"/>
            <a:ext cx="9144" cy="630936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5" name="Metric 6"/>
          <p:cNvSpPr txBox="1"/>
          <p:nvPr/>
        </p:nvSpPr>
        <p:spPr>
          <a:xfrm>
            <a:off x="15023592" y="3986784"/>
            <a:ext cx="2944368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50800" rIns="76200" bIns="50800">
            <a:spAutoFit/>
          </a:bodyPr>
          <a:lstStyle/>
          <a:p>
            <a:pPr algn="ctr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0</a:t>
            </a:r>
          </a:p>
          <a:p>
            <a:pPr algn="ctr">
              <a:lnSpc>
                <a:spcPct val="92000"/>
              </a:lnSpc>
            </a:pPr>
            <a:r>
              <a:rPr sz="1500" b="0" i="0">
                <a:solidFill>
                  <a:srgbClr val="3A4149"/>
                </a:solidFill>
                <a:latin typeface="Segoe UI"/>
              </a:rPr>
              <a:t>Boundaries invented by averaging</a:t>
            </a:r>
          </a:p>
        </p:txBody>
      </p:sp>
      <p:sp>
        <p:nvSpPr>
          <p:cNvPr id="56" name="MetDiv"/>
          <p:cNvSpPr txBox="1"/>
          <p:nvPr/>
        </p:nvSpPr>
        <p:spPr>
          <a:xfrm>
            <a:off x="15023592" y="4087368"/>
            <a:ext cx="9144" cy="630936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7" name="TECHNICAL BENEFITS Card"/>
          <p:cNvSpPr txBox="1"/>
          <p:nvPr/>
        </p:nvSpPr>
        <p:spPr>
          <a:xfrm>
            <a:off x="301752" y="5001768"/>
            <a:ext cx="2414016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8" name="TECHNICAL BENEFITS Header"/>
          <p:cNvSpPr txBox="1"/>
          <p:nvPr/>
        </p:nvSpPr>
        <p:spPr>
          <a:xfrm>
            <a:off x="301752" y="5001768"/>
            <a:ext cx="2414016" cy="356616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TECHNICAL BENEFITS</a:t>
            </a:r>
          </a:p>
        </p:txBody>
      </p:sp>
      <p:sp>
        <p:nvSpPr>
          <p:cNvPr id="59" name="Benefit Body 0"/>
          <p:cNvSpPr txBox="1"/>
          <p:nvPr/>
        </p:nvSpPr>
        <p:spPr>
          <a:xfrm>
            <a:off x="356616" y="5458968"/>
            <a:ext cx="2313432" cy="3328416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76200" bIns="76200">
            <a:spAutoFit/>
          </a:bodyPr>
          <a:lstStyle/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Reproducible, checkpointed runs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Refusals recorded, never silent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Policy replayed without re-ingest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16324F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Runs offline on district hardware</a:t>
            </a:r>
          </a:p>
        </p:txBody>
      </p:sp>
      <p:sp>
        <p:nvSpPr>
          <p:cNvPr id="60" name="OPERATIONAL BENEFITS Card"/>
          <p:cNvSpPr txBox="1"/>
          <p:nvPr/>
        </p:nvSpPr>
        <p:spPr>
          <a:xfrm>
            <a:off x="2816352" y="5001768"/>
            <a:ext cx="2414016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61" name="OPERATIONAL BENEFITS Header"/>
          <p:cNvSpPr txBox="1"/>
          <p:nvPr/>
        </p:nvSpPr>
        <p:spPr>
          <a:xfrm>
            <a:off x="2816352" y="5001768"/>
            <a:ext cx="2414016" cy="356616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OPERATIONAL BENEFITS</a:t>
            </a:r>
          </a:p>
        </p:txBody>
      </p:sp>
      <p:sp>
        <p:nvSpPr>
          <p:cNvPr id="62" name="Benefit Body 1"/>
          <p:cNvSpPr txBox="1"/>
          <p:nvPr/>
        </p:nvSpPr>
        <p:spPr>
          <a:xfrm>
            <a:off x="2871216" y="5458968"/>
            <a:ext cx="2313432" cy="3328416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76200" bIns="76200">
            <a:spAutoFit/>
          </a:bodyPr>
          <a:lstStyle/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1C1C1E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Manual reconciliation removed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1C1C1E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Queue batched by cause, not case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1C1C1E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Survey effort aimed by evidence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1C1C1E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Officer decisions become training data</a:t>
            </a:r>
          </a:p>
        </p:txBody>
      </p:sp>
      <p:sp>
        <p:nvSpPr>
          <p:cNvPr id="63" name="STRATEGIC BENEFITS Card"/>
          <p:cNvSpPr txBox="1"/>
          <p:nvPr/>
        </p:nvSpPr>
        <p:spPr>
          <a:xfrm>
            <a:off x="5330952" y="5001768"/>
            <a:ext cx="2414016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64" name="STRATEGIC BENEFITS Header"/>
          <p:cNvSpPr txBox="1"/>
          <p:nvPr/>
        </p:nvSpPr>
        <p:spPr>
          <a:xfrm>
            <a:off x="5330952" y="5001768"/>
            <a:ext cx="2414016" cy="356616"/>
          </a:xfrm>
          <a:prstGeom prst="rect">
            <a:avLst/>
          </a:prstGeom>
          <a:solidFill>
            <a:srgbClr val="E2711D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STRATEGIC BENEFITS</a:t>
            </a:r>
          </a:p>
        </p:txBody>
      </p:sp>
      <p:sp>
        <p:nvSpPr>
          <p:cNvPr id="65" name="Benefit Body 2"/>
          <p:cNvSpPr txBox="1"/>
          <p:nvPr/>
        </p:nvSpPr>
        <p:spPr>
          <a:xfrm>
            <a:off x="5385816" y="5458968"/>
            <a:ext cx="2313432" cy="3328416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76200" bIns="76200">
            <a:spAutoFit/>
          </a:bodyPr>
          <a:lstStyle/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E2711D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NAKSHA readiness measured per ward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E2711D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Exchange by open standard, not export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E2711D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Citizen-verifiable record integrity</a:t>
            </a:r>
          </a:p>
          <a:p>
            <a:pPr algn="l" marL="190500" indent="-190500">
              <a:lnSpc>
                <a:spcPct val="96000"/>
              </a:lnSpc>
              <a:spcBef>
                <a:spcPts val="1000"/>
              </a:spcBef>
              <a:buClr>
                <a:srgbClr val="E2711D"/>
              </a:buClr>
              <a:buFont typeface="Arial"/>
              <a:buChar char="✓"/>
            </a:pPr>
            <a:r>
              <a:rPr sz="1500" b="0" i="0">
                <a:solidFill>
                  <a:srgbClr val="1C1C1E"/>
                </a:solidFill>
                <a:latin typeface="Segoe UI"/>
              </a:rPr>
              <a:t>Sovereign, on-premises, no lock-in</a:t>
            </a:r>
          </a:p>
        </p:txBody>
      </p:sp>
      <p:sp>
        <p:nvSpPr>
          <p:cNvPr id="66" name="Benchmark Header"/>
          <p:cNvSpPr txBox="1"/>
          <p:nvPr/>
        </p:nvSpPr>
        <p:spPr>
          <a:xfrm>
            <a:off x="7900416" y="5001768"/>
            <a:ext cx="10085832" cy="356616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STANDARDS AND STATUTORY CONFORMANCE</a:t>
            </a:r>
          </a:p>
        </p:txBody>
      </p:sp>
      <p:graphicFrame>
        <p:nvGraphicFramePr>
          <p:cNvPr id="67" name="Conformance Table"/>
          <p:cNvGraphicFramePr>
            <a:graphicFrameLocks noGrp="1"/>
          </p:cNvGraphicFramePr>
          <p:nvPr/>
        </p:nvGraphicFramePr>
        <p:xfrm>
          <a:off x="7900416" y="5413248"/>
          <a:ext cx="10085832" cy="33284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/>
                <a:gridCol w="1234440"/>
                <a:gridCol w="1325880"/>
                <a:gridCol w="5148072"/>
              </a:tblGrid>
              <a:tr h="369824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1C1C1E"/>
                          </a:solidFill>
                          <a:latin typeface="Segoe UI"/>
                        </a:rPr>
                        <a:t>Instrument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1C1C1E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1C1C1E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1C1C1E"/>
                          </a:solidFill>
                          <a:latin typeface="Segoe UI"/>
                        </a:rPr>
                        <a:t>How GEOVAX conforms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6F4F1"/>
                    </a:solidFill>
                  </a:tcPr>
                </a:tc>
              </a:tr>
              <a:tr h="3698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C1C1E"/>
                          </a:solidFill>
                          <a:latin typeface="Segoe UI"/>
                        </a:rPr>
                        <a:t>DILRMP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Programme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Segoe UI"/>
                        </a:rPr>
                        <a:t>✓ Built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14-character ULPIN with checksum; split / merge genealogy carries encumbrance across mutation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C1C1E"/>
                          </a:solidFill>
                          <a:latin typeface="Segoe UI"/>
                        </a:rPr>
                        <a:t>NAKSHA — 0.5 m urban spec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Programme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Segoe UI"/>
                        </a:rPr>
                        <a:t>✓ Measured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Positional confidence scored against the spec; the shortfall is reported per ward, not hidden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C1C1E"/>
                          </a:solidFill>
                          <a:latin typeface="Segoe UI"/>
                        </a:rPr>
                        <a:t>LGD hierarchy (MoPR)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Registry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Segoe UI"/>
                        </a:rPr>
                        <a:t>✓ Built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state / district / taluk / village LGD codes are the canonical join key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C1C1E"/>
                          </a:solidFill>
                          <a:latin typeface="Segoe UI"/>
                        </a:rPr>
                        <a:t>Nat. Geospatial Policy 2022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Policy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Segoe UI"/>
                        </a:rPr>
                        <a:t>✓ Built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EPSG:7755 India NSF LCC is a first-class target CRS; open standards throughout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C1C1E"/>
                          </a:solidFill>
                          <a:latin typeface="Segoe UI"/>
                        </a:rPr>
                        <a:t>DPDP Act 2023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Statute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Segoe UI"/>
                        </a:rPr>
                        <a:t>✓ Built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Owner attributes absent from the feature API; purpose-bound, logged access only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C1C1E"/>
                          </a:solidFill>
                          <a:latin typeface="Segoe UI"/>
                        </a:rPr>
                        <a:t>OGC API - Features Part 1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Segoe UI"/>
                        </a:rPr>
                        <a:t>✓ Conformant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/conformance, /collections, /items — QGIS works with no custom code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C1C1E"/>
                          </a:solidFill>
                          <a:latin typeface="Segoe UI"/>
                        </a:rPr>
                        <a:t>CityGML LOD1 / CityJSON 1.1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Segoe UI"/>
                        </a:rPr>
                        <a:t>✓ Built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8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Solid geometry, measuredHeight, storeysAboveGround — 61,066 extruded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1C1C1E"/>
                          </a:solidFill>
                          <a:latin typeface="Segoe UI"/>
                        </a:rPr>
                        <a:t>STAC catalogue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</a:pPr>
                      <a:r>
                        <a:rPr sz="1150" b="1">
                          <a:solidFill>
                            <a:srgbClr val="B35A0F"/>
                          </a:solidFill>
                          <a:latin typeface="Segoe UI"/>
                        </a:rPr>
                        <a:t>⚙ Designed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3A4149"/>
                          </a:solidFill>
                          <a:latin typeface="Segoe UI"/>
                        </a:rPr>
                        <a:t>Item structure designed, not built here — stated rather than implied</a:t>
                      </a:r>
                    </a:p>
                  </a:txBody>
                  <a:tcPr anchor="ctr" marL="76200" marR="76200" marT="38100" marB="38100">
                    <a:lnL w="6350">
                      <a:solidFill>
                        <a:srgbClr val="F3F1ED"/>
                      </a:solidFill>
                    </a:lnL>
                    <a:lnR w="6350">
                      <a:solidFill>
                        <a:srgbClr val="F3F1ED"/>
                      </a:solidFill>
                    </a:lnR>
                    <a:lnT w="6350">
                      <a:solidFill>
                        <a:srgbClr val="F3F1ED"/>
                      </a:solidFill>
                    </a:lnT>
                    <a:lnB w="6350">
                      <a:solidFill>
                        <a:srgbClr val="F3F1E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Where It Applies"/>
          <p:cNvSpPr/>
          <p:nvPr/>
        </p:nvSpPr>
        <p:spPr>
          <a:xfrm>
            <a:off x="301752" y="9015984"/>
            <a:ext cx="2157984" cy="713232"/>
          </a:xfrm>
          <a:prstGeom prst="homePlate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4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WHERE IT</a:t>
            </a:r>
          </a:p>
          <a:p>
            <a:pPr algn="ctr">
              <a:lnSpc>
                <a:spcPct val="94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APPLIES</a:t>
            </a:r>
          </a:p>
        </p:txBody>
      </p:sp>
      <p:sp>
        <p:nvSpPr>
          <p:cNvPr id="69" name="App 1"/>
          <p:cNvSpPr txBox="1"/>
          <p:nvPr/>
        </p:nvSpPr>
        <p:spPr>
          <a:xfrm>
            <a:off x="2615184" y="9015984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Cadastral finalisation</a:t>
            </a:r>
          </a:p>
        </p:txBody>
      </p:sp>
      <p:sp>
        <p:nvSpPr>
          <p:cNvPr id="70" name="App 2"/>
          <p:cNvSpPr txBox="1"/>
          <p:nvPr/>
        </p:nvSpPr>
        <p:spPr>
          <a:xfrm>
            <a:off x="4535424" y="9015984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Mutation &amp; subdivision</a:t>
            </a:r>
          </a:p>
        </p:txBody>
      </p:sp>
      <p:sp>
        <p:nvSpPr>
          <p:cNvPr id="71" name="AppDiv"/>
          <p:cNvSpPr txBox="1"/>
          <p:nvPr/>
        </p:nvSpPr>
        <p:spPr>
          <a:xfrm>
            <a:off x="4535424" y="9144000"/>
            <a:ext cx="9144" cy="45720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2" name="App 3"/>
          <p:cNvSpPr txBox="1"/>
          <p:nvPr/>
        </p:nvSpPr>
        <p:spPr>
          <a:xfrm>
            <a:off x="6455664" y="9015984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NAKSHA survey planning</a:t>
            </a:r>
          </a:p>
        </p:txBody>
      </p:sp>
      <p:sp>
        <p:nvSpPr>
          <p:cNvPr id="73" name="AppDiv"/>
          <p:cNvSpPr txBox="1"/>
          <p:nvPr/>
        </p:nvSpPr>
        <p:spPr>
          <a:xfrm>
            <a:off x="6455664" y="9144000"/>
            <a:ext cx="9144" cy="45720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4" name="App 4"/>
          <p:cNvSpPr txBox="1"/>
          <p:nvPr/>
        </p:nvSpPr>
        <p:spPr>
          <a:xfrm>
            <a:off x="8375904" y="9015984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Encroachment findings</a:t>
            </a:r>
          </a:p>
        </p:txBody>
      </p:sp>
      <p:sp>
        <p:nvSpPr>
          <p:cNvPr id="75" name="AppDiv"/>
          <p:cNvSpPr txBox="1"/>
          <p:nvPr/>
        </p:nvSpPr>
        <p:spPr>
          <a:xfrm>
            <a:off x="8375904" y="9144000"/>
            <a:ext cx="9144" cy="45720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6" name="App 5"/>
          <p:cNvSpPr txBox="1"/>
          <p:nvPr/>
        </p:nvSpPr>
        <p:spPr>
          <a:xfrm>
            <a:off x="10296144" y="9015984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Development control</a:t>
            </a:r>
          </a:p>
        </p:txBody>
      </p:sp>
      <p:sp>
        <p:nvSpPr>
          <p:cNvPr id="77" name="AppDiv"/>
          <p:cNvSpPr txBox="1"/>
          <p:nvPr/>
        </p:nvSpPr>
        <p:spPr>
          <a:xfrm>
            <a:off x="10296144" y="9144000"/>
            <a:ext cx="9144" cy="45720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8" name="App 6"/>
          <p:cNvSpPr txBox="1"/>
          <p:nvPr/>
        </p:nvSpPr>
        <p:spPr>
          <a:xfrm>
            <a:off x="12216384" y="9015984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Utility coordination</a:t>
            </a:r>
          </a:p>
        </p:txBody>
      </p:sp>
      <p:sp>
        <p:nvSpPr>
          <p:cNvPr id="79" name="AppDiv"/>
          <p:cNvSpPr txBox="1"/>
          <p:nvPr/>
        </p:nvSpPr>
        <p:spPr>
          <a:xfrm>
            <a:off x="12216384" y="9144000"/>
            <a:ext cx="9144" cy="45720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80" name="App 7"/>
          <p:cNvSpPr txBox="1"/>
          <p:nvPr/>
        </p:nvSpPr>
        <p:spPr>
          <a:xfrm>
            <a:off x="14136624" y="9015984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Inter-dept. exchange</a:t>
            </a:r>
          </a:p>
        </p:txBody>
      </p:sp>
      <p:sp>
        <p:nvSpPr>
          <p:cNvPr id="81" name="AppDiv"/>
          <p:cNvSpPr txBox="1"/>
          <p:nvPr/>
        </p:nvSpPr>
        <p:spPr>
          <a:xfrm>
            <a:off x="14136624" y="9144000"/>
            <a:ext cx="9144" cy="45720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82" name="App 8"/>
          <p:cNvSpPr txBox="1"/>
          <p:nvPr/>
        </p:nvSpPr>
        <p:spPr>
          <a:xfrm>
            <a:off x="16056864" y="9015984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4000"/>
              </a:lnSpc>
            </a:pPr>
            <a:r>
              <a:rPr sz="1400" b="1" i="0">
                <a:solidFill>
                  <a:srgbClr val="1C1C1E"/>
                </a:solidFill>
                <a:latin typeface="Segoe UI"/>
              </a:rPr>
              <a:t>Citizen verification</a:t>
            </a:r>
          </a:p>
        </p:txBody>
      </p:sp>
      <p:sp>
        <p:nvSpPr>
          <p:cNvPr id="83" name="AppDiv"/>
          <p:cNvSpPr txBox="1"/>
          <p:nvPr/>
        </p:nvSpPr>
        <p:spPr>
          <a:xfrm>
            <a:off x="16056864" y="9144000"/>
            <a:ext cx="9144" cy="457200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pic>
        <p:nvPicPr>
          <p:cNvPr id="951" name="Graphic 951" descr="Market impa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1179576"/>
            <a:ext cx="256032" cy="256032"/>
          </a:xfrm>
          <a:prstGeom prst="rect">
            <a:avLst/>
          </a:prstGeom>
        </p:spPr>
      </p:pic>
      <p:pic>
        <p:nvPicPr>
          <p:cNvPr id="952" name="Graphic 952" descr="Economic impac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8968" y="1179576"/>
            <a:ext cx="256032" cy="256032"/>
          </a:xfrm>
          <a:prstGeom prst="rect">
            <a:avLst/>
          </a:prstGeom>
        </p:spPr>
      </p:pic>
      <p:pic>
        <p:nvPicPr>
          <p:cNvPr id="953" name="Graphic 953" descr="Ecosystem and adop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368" y="1179576"/>
            <a:ext cx="256032" cy="256032"/>
          </a:xfrm>
          <a:prstGeom prst="rect">
            <a:avLst/>
          </a:prstGeom>
        </p:spPr>
      </p:pic>
      <p:pic>
        <p:nvPicPr>
          <p:cNvPr id="954" name="Graphic 954" descr="Market benchmark comparis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4152" y="5056632"/>
            <a:ext cx="256032" cy="256032"/>
          </a:xfrm>
          <a:prstGeom prst="rect">
            <a:avLst/>
          </a:prstGeom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B328BFB5-4AB4-ABFA-873D-21CE0B3F1C33}"/>
              </a:ext>
            </a:extLst>
          </p:cNvPr>
          <p:cNvGrpSpPr/>
          <p:nvPr/>
        </p:nvGrpSpPr>
        <p:grpSpPr>
          <a:xfrm>
            <a:off x="14731999" y="2248"/>
            <a:ext cx="3312903" cy="1115352"/>
            <a:chOff x="0" y="0"/>
            <a:chExt cx="4499699" cy="2124672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B6B58738-3FBB-D56F-6F7E-05C9D7BA3D9B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6565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ine Pill"/>
          <p:cNvSpPr txBox="1"/>
          <p:nvPr/>
        </p:nvSpPr>
        <p:spPr>
          <a:xfrm>
            <a:off x="301752" y="228600"/>
            <a:ext cx="3026664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3A4149"/>
                </a:solidFill>
                <a:latin typeface="Segoe UI"/>
              </a:rPr>
              <a:t>Perpetually Curious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3813048" y="173736"/>
            <a:ext cx="1067104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4600" b="1" i="0">
                <a:solidFill>
                  <a:srgbClr val="1C1C1E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4" name="Footer Bar"/>
          <p:cNvSpPr txBox="1"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@SIH Idea submission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6888968" y="990295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127000" bIns="50800">
            <a:spAutoFit/>
          </a:bodyPr>
          <a:lstStyle/>
          <a:p>
            <a:pPr algn="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" name="Left Panel"/>
          <p:cNvSpPr txBox="1"/>
          <p:nvPr/>
        </p:nvSpPr>
        <p:spPr>
          <a:xfrm>
            <a:off x="301752" y="1170432"/>
            <a:ext cx="7973568" cy="822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7" name="Agreement Header"/>
          <p:cNvSpPr txBox="1"/>
          <p:nvPr/>
        </p:nvSpPr>
        <p:spPr>
          <a:xfrm>
            <a:off x="301752" y="1170432"/>
            <a:ext cx="7973568" cy="585216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ONE 17-MINUTE RUN · 107,262 FEATURES · 2 vCPU</a:t>
            </a:r>
          </a:p>
          <a:p>
            <a:pPr algn="ctr">
              <a:lnSpc>
                <a:spcPct val="9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AND THE 56.6% IT REFUSES TO CLOSE WITHOUT A HUMAN</a:t>
            </a:r>
          </a:p>
        </p:txBody>
      </p:sp>
      <p:pic>
        <p:nvPicPr>
          <p:cNvPr id="8" name="Picture 7" descr="stag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1856232"/>
            <a:ext cx="7900416" cy="2971800"/>
          </a:xfrm>
          <a:prstGeom prst="rect">
            <a:avLst/>
          </a:prstGeom>
        </p:spPr>
      </p:pic>
      <p:sp>
        <p:nvSpPr>
          <p:cNvPr id="9" name="Chart Caption"/>
          <p:cNvSpPr txBox="1"/>
          <p:nvPr/>
        </p:nvSpPr>
        <p:spPr>
          <a:xfrm>
            <a:off x="429768" y="4928616"/>
            <a:ext cx="7717536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98000"/>
              </a:lnSpc>
            </a:pPr>
            <a:r>
              <a:rPr sz="1500" b="0" i="1">
                <a:solidFill>
                  <a:srgbClr val="3A4149"/>
                </a:solidFill>
                <a:latin typeface="Segoe UI"/>
              </a:rPr>
              <a:t>12 checkpointed stages on 2 vCPU / 7 GB. Matching dominates because 370,494 candidate pairs are scored — after blocking removed 99.988% of the 3.04 × 10⁹ possible.</a:t>
            </a:r>
          </a:p>
        </p:txBody>
      </p:sp>
      <p:sp>
        <p:nvSpPr>
          <p:cNvPr id="10" name="Viability Icon"/>
          <p:cNvSpPr txBox="1"/>
          <p:nvPr/>
        </p:nvSpPr>
        <p:spPr>
          <a:xfrm>
            <a:off x="484632" y="5687568"/>
            <a:ext cx="557784" cy="557784"/>
          </a:xfrm>
          <a:prstGeom prst="rect">
            <a:avLst/>
          </a:prstGeom>
          <a:solidFill>
            <a:srgbClr val="FFFFFF"/>
          </a:solidFill>
          <a:ln w="1905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1" name="Viability Title"/>
          <p:cNvSpPr txBox="1"/>
          <p:nvPr/>
        </p:nvSpPr>
        <p:spPr>
          <a:xfrm>
            <a:off x="1170432" y="5742432"/>
            <a:ext cx="3813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VIABILITY</a:t>
            </a:r>
          </a:p>
        </p:txBody>
      </p:sp>
      <p:sp>
        <p:nvSpPr>
          <p:cNvPr id="12" name="Viability List"/>
          <p:cNvSpPr txBox="1"/>
          <p:nvPr/>
        </p:nvSpPr>
        <p:spPr>
          <a:xfrm>
            <a:off x="484632" y="6272784"/>
            <a:ext cx="7699248" cy="302666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90500" indent="-190500">
              <a:lnSpc>
                <a:spcPct val="98000"/>
              </a:lnSpc>
              <a:spcBef>
                <a:spcPts val="600"/>
              </a:spcBef>
              <a:buClr>
                <a:srgbClr val="16324F"/>
              </a:buClr>
              <a:buFont typeface="Arial"/>
              <a:buChar char="✓"/>
            </a:pPr>
            <a:r>
              <a:rPr sz="1600" b="1" i="0">
                <a:solidFill>
                  <a:srgbClr val="1C1C1E"/>
                </a:solidFill>
                <a:latin typeface="Segoe UI"/>
              </a:rPr>
              <a:t>Licensing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Apache-2.0, and every input layer is CC0-1.0 or CC-BY-4.0 — nothing blocks a deployment.</a:t>
            </a:r>
          </a:p>
          <a:p>
            <a:pPr algn="l" marL="190500" indent="-190500">
              <a:lnSpc>
                <a:spcPct val="98000"/>
              </a:lnSpc>
              <a:spcBef>
                <a:spcPts val="600"/>
              </a:spcBef>
              <a:buClr>
                <a:srgbClr val="16324F"/>
              </a:buClr>
              <a:buFont typeface="Arial"/>
              <a:buChar char="✓"/>
            </a:pPr>
            <a:r>
              <a:rPr sz="1600" b="1" i="0">
                <a:solidFill>
                  <a:srgbClr val="1C1C1E"/>
                </a:solidFill>
                <a:latin typeface="Segoe UI"/>
              </a:rPr>
              <a:t>Deployment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Python 3.11 + PostGIS via docker-compose; runs offline in a district office on 2 vCPU.</a:t>
            </a:r>
          </a:p>
          <a:p>
            <a:pPr algn="l" marL="190500" indent="-190500">
              <a:lnSpc>
                <a:spcPct val="98000"/>
              </a:lnSpc>
              <a:spcBef>
                <a:spcPts val="600"/>
              </a:spcBef>
              <a:buClr>
                <a:srgbClr val="16324F"/>
              </a:buClr>
              <a:buFont typeface="Arial"/>
              <a:buChar char="✓"/>
            </a:pPr>
            <a:r>
              <a:rPr sz="1600" b="1" i="0">
                <a:solidFill>
                  <a:srgbClr val="1C1C1E"/>
                </a:solidFill>
                <a:latin typeface="Segoe UI"/>
              </a:rPr>
              <a:t>Adoption path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OGC API - Features, so a department works against it in QGIS with no GEOVAX-specific code.</a:t>
            </a:r>
          </a:p>
          <a:p>
            <a:pPr algn="l" marL="190500" indent="-190500">
              <a:lnSpc>
                <a:spcPct val="98000"/>
              </a:lnSpc>
              <a:spcBef>
                <a:spcPts val="600"/>
              </a:spcBef>
              <a:buClr>
                <a:srgbClr val="16324F"/>
              </a:buClr>
              <a:buFont typeface="Arial"/>
              <a:buChar char="✓"/>
            </a:pPr>
            <a:r>
              <a:rPr sz="1600" b="1" i="0">
                <a:solidFill>
                  <a:srgbClr val="1C1C1E"/>
                </a:solidFill>
                <a:latin typeface="Segoe UI"/>
              </a:rPr>
              <a:t>Sizing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A measured path from a single-ULB pilot (&lt; 500 k parcels) to Tamil Nadu statewide (6 M+).</a:t>
            </a:r>
          </a:p>
          <a:p>
            <a:pPr algn="l" marL="190500" indent="-190500">
              <a:lnSpc>
                <a:spcPct val="98000"/>
              </a:lnSpc>
              <a:spcBef>
                <a:spcPts val="600"/>
              </a:spcBef>
              <a:buClr>
                <a:srgbClr val="16324F"/>
              </a:buClr>
              <a:buFont typeface="Arial"/>
              <a:buChar char="✓"/>
            </a:pPr>
            <a:r>
              <a:rPr sz="1600" b="1" i="0">
                <a:solidFill>
                  <a:srgbClr val="1C1C1E"/>
                </a:solidFill>
                <a:latin typeface="Segoe UI"/>
              </a:rPr>
              <a:t>Maintainability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81 passing tests, per-stage checkpoints, an AOI manifest with SHA-256 for every input.</a:t>
            </a:r>
          </a:p>
          <a:p>
            <a:pPr algn="l" marL="190500" indent="-190500">
              <a:lnSpc>
                <a:spcPct val="98000"/>
              </a:lnSpc>
              <a:spcBef>
                <a:spcPts val="600"/>
              </a:spcBef>
              <a:buClr>
                <a:srgbClr val="16324F"/>
              </a:buClr>
              <a:buFont typeface="Arial"/>
              <a:buChar char="✓"/>
            </a:pPr>
            <a:r>
              <a:rPr sz="1600" b="1" i="0">
                <a:solidFill>
                  <a:srgbClr val="1C1C1E"/>
                </a:solidFill>
                <a:latin typeface="Segoe UI"/>
              </a:rPr>
              <a:t>Institutional fit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600" b="0" i="0">
                <a:solidFill>
                  <a:srgbClr val="3A4149"/>
                </a:solidFill>
                <a:latin typeface="Segoe UI"/>
              </a:rPr>
              <a:t>The LGD hierarchy is the join key throughout, so multi-ULB isolation is configuration, not a rewrite.</a:t>
            </a:r>
          </a:p>
        </p:txBody>
      </p:sp>
      <p:sp>
        <p:nvSpPr>
          <p:cNvPr id="13" name="ACCURACY Icon"/>
          <p:cNvSpPr txBox="1"/>
          <p:nvPr/>
        </p:nvSpPr>
        <p:spPr>
          <a:xfrm>
            <a:off x="8613648" y="1243584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4" name="ACCURACY Title"/>
          <p:cNvSpPr txBox="1"/>
          <p:nvPr/>
        </p:nvSpPr>
        <p:spPr>
          <a:xfrm>
            <a:off x="9473184" y="1216152"/>
            <a:ext cx="8385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ACCURACY</a:t>
            </a:r>
          </a:p>
        </p:txBody>
      </p:sp>
      <p:sp>
        <p:nvSpPr>
          <p:cNvPr id="15" name="ACCURACY Body"/>
          <p:cNvSpPr txBox="1"/>
          <p:nvPr/>
        </p:nvSpPr>
        <p:spPr>
          <a:xfrm>
            <a:off x="9473184" y="1627632"/>
            <a:ext cx="8385048" cy="121615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Matcher AUC 1.0000, expected calibration error 0.0002 over 5-fold CV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1.51 m @ 073° offset recovered from 5,226 pairs, residual RMS 2.51 m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Mean topological confidence 0.9997; ULPIN checksum catches 100% of typos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nDSM median 0.023 m — the derived ground surface sits on the ground</a:t>
            </a:r>
          </a:p>
        </p:txBody>
      </p:sp>
      <p:sp>
        <p:nvSpPr>
          <p:cNvPr id="16" name="EFFICIENCY Icon"/>
          <p:cNvSpPr txBox="1"/>
          <p:nvPr/>
        </p:nvSpPr>
        <p:spPr>
          <a:xfrm>
            <a:off x="8613648" y="3099816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7" name="EFFICIENCY Title"/>
          <p:cNvSpPr txBox="1"/>
          <p:nvPr/>
        </p:nvSpPr>
        <p:spPr>
          <a:xfrm>
            <a:off x="9473184" y="3072384"/>
            <a:ext cx="8385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EFFICIENCY</a:t>
            </a:r>
          </a:p>
        </p:txBody>
      </p:sp>
      <p:sp>
        <p:nvSpPr>
          <p:cNvPr id="18" name="EFFICIENCY Body"/>
          <p:cNvSpPr txBox="1"/>
          <p:nvPr/>
        </p:nvSpPr>
        <p:spPr>
          <a:xfrm>
            <a:off x="9473184" y="3483864"/>
            <a:ext cx="8385048" cy="121615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Blocking removes 99.988% of 3.04 × 10⁹ pairs before a feature is computed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A 1.07 GB cadastral file is streamed in ~40 MB of RAM, not loaded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107,262 features harmonised in 1,065 s on 2 vCPU — no GPU, no cluster</a:t>
            </a:r>
          </a:p>
        </p:txBody>
      </p:sp>
      <p:sp>
        <p:nvSpPr>
          <p:cNvPr id="19" name="SecDiv"/>
          <p:cNvSpPr txBox="1"/>
          <p:nvPr/>
        </p:nvSpPr>
        <p:spPr>
          <a:xfrm>
            <a:off x="8613648" y="2916936"/>
            <a:ext cx="9272016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0" name="PERFORMANCE Icon"/>
          <p:cNvSpPr txBox="1"/>
          <p:nvPr/>
        </p:nvSpPr>
        <p:spPr>
          <a:xfrm>
            <a:off x="8613648" y="4873752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1" name="PERFORMANCE Title"/>
          <p:cNvSpPr txBox="1"/>
          <p:nvPr/>
        </p:nvSpPr>
        <p:spPr>
          <a:xfrm>
            <a:off x="9473184" y="4846320"/>
            <a:ext cx="8385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PERFORMANCE</a:t>
            </a:r>
          </a:p>
        </p:txBody>
      </p:sp>
      <p:sp>
        <p:nvSpPr>
          <p:cNvPr id="22" name="PERFORMANCE Body"/>
          <p:cNvSpPr txBox="1"/>
          <p:nvPr/>
        </p:nvSpPr>
        <p:spPr>
          <a:xfrm>
            <a:off x="9473184" y="5257800"/>
            <a:ext cx="8385048" cy="121615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43.4% of 35,690 conflicts auto-resolved; 20,207 escalated, batched into 2 causes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Change detector's measured false-positive rate 1.79% on a null-change experiment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0" i="0">
                <a:solidFill>
                  <a:srgbClr val="3A4149"/>
                </a:solidFill>
                <a:latin typeface="Segoe UI"/>
              </a:rPr>
              <a:t>61,066 buildings extruded to LOD1; 31,494 with no height emitted flat and flagged</a:t>
            </a:r>
          </a:p>
        </p:txBody>
      </p:sp>
      <p:sp>
        <p:nvSpPr>
          <p:cNvPr id="23" name="SecDiv"/>
          <p:cNvSpPr txBox="1"/>
          <p:nvPr/>
        </p:nvSpPr>
        <p:spPr>
          <a:xfrm>
            <a:off x="8613648" y="4690872"/>
            <a:ext cx="9272016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4" name="RISKS AND MITIGATION Icon"/>
          <p:cNvSpPr txBox="1"/>
          <p:nvPr/>
        </p:nvSpPr>
        <p:spPr>
          <a:xfrm>
            <a:off x="8613648" y="6629400"/>
            <a:ext cx="658368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5" name="RISKS AND MITIGATION Title"/>
          <p:cNvSpPr txBox="1"/>
          <p:nvPr/>
        </p:nvSpPr>
        <p:spPr>
          <a:xfrm>
            <a:off x="9473184" y="6601968"/>
            <a:ext cx="8385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2600" b="1" i="0">
                <a:solidFill>
                  <a:srgbClr val="1C1C1E"/>
                </a:solidFill>
                <a:latin typeface="Segoe UI"/>
              </a:rPr>
              <a:t>RISKS AND MITIGATION</a:t>
            </a:r>
          </a:p>
        </p:txBody>
      </p:sp>
      <p:sp>
        <p:nvSpPr>
          <p:cNvPr id="26" name="RISKS AND MITIGATION Body"/>
          <p:cNvSpPr txBox="1"/>
          <p:nvPr/>
        </p:nvSpPr>
        <p:spPr>
          <a:xfrm>
            <a:off x="9473184" y="7013448"/>
            <a:ext cx="8385048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101600" bIns="76200">
            <a:spAutoFit/>
          </a:bodyPr>
          <a:lstStyle/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1" i="0">
                <a:solidFill>
                  <a:srgbClr val="1C1C1E"/>
                </a:solidFill>
                <a:latin typeface="Segoe UI"/>
              </a:rPr>
              <a:t>No independent ground truth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CV figures are against the platform's own weak labels. A pilot's first week is a 200–300 point control survey; everything downstream then becomes empirical.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1" i="0">
                <a:solidFill>
                  <a:srgbClr val="1C1C1E"/>
                </a:solidFill>
                <a:latin typeface="Segoe UI"/>
              </a:rPr>
              <a:t>Declared accuracies may be aspirational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Every fusion weight is anchored to them — which is why ground truth comes first.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1" i="0">
                <a:solidFill>
                  <a:srgbClr val="1C1C1E"/>
                </a:solidFill>
                <a:latin typeface="Segoe UI"/>
              </a:rPr>
              <a:t>A queue nobody works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56.6% needs a human. Batching by cause makes the workload tractable; it cannot make it zero.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1" i="0">
                <a:solidFill>
                  <a:srgbClr val="1C1C1E"/>
                </a:solidFill>
                <a:latin typeface="Segoe UI"/>
              </a:rPr>
              <a:t>No Indian float DSM openly available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The terrain chain is proved on a real calibrated surface (Geobasis NRW DOM1) and labelled as such.</a:t>
            </a:r>
          </a:p>
          <a:p>
            <a:pPr algn="l" marL="171450" indent="-171450">
              <a:lnSpc>
                <a:spcPct val="98000"/>
              </a:lnSpc>
              <a:spcBef>
                <a:spcPts val="300"/>
              </a:spcBef>
              <a:buClr>
                <a:srgbClr val="16324F"/>
              </a:buClr>
              <a:buFont typeface="Arial"/>
              <a:buChar char="•"/>
            </a:pPr>
            <a:r>
              <a:rPr sz="1400" b="1" i="0">
                <a:solidFill>
                  <a:srgbClr val="1C1C1E"/>
                </a:solidFill>
                <a:latin typeface="Segoe UI"/>
              </a:rPr>
              <a:t>AMRUT layer contributes zero features here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400" b="0" i="0">
                <a:solidFill>
                  <a:srgbClr val="3A4149"/>
                </a:solidFill>
                <a:latin typeface="Segoe UI"/>
              </a:rPr>
              <a:t>Reported as a completeness gap, not silently run with three sources where four were configured.</a:t>
            </a:r>
          </a:p>
        </p:txBody>
      </p:sp>
      <p:sp>
        <p:nvSpPr>
          <p:cNvPr id="27" name="SecDiv"/>
          <p:cNvSpPr txBox="1"/>
          <p:nvPr/>
        </p:nvSpPr>
        <p:spPr>
          <a:xfrm>
            <a:off x="8613648" y="6446520"/>
            <a:ext cx="9272016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pic>
        <p:nvPicPr>
          <p:cNvPr id="800" name="Objective Agreement Chart" descr="Scatter chart of relative objective difference across 39 linear programs, all below the 1e-6 agreement threshold"/>
          <p:cNvPicPr>
            <a:picLocks/>
          </p:cNvPicPr>
          <p:nvPr/>
        </p:nvPicPr>
        <p:blipFill>
          <a:blip r:embed="rId2"/>
          <a:srcRect l="2847" t="18395" r="53958" b="52716"/>
          <a:stretch>
            <a:fillRect/>
          </a:stretch>
        </p:blipFill>
        <p:spPr>
          <a:xfrm>
            <a:off x="8759952" y="1399032"/>
            <a:ext cx="356616" cy="356616"/>
          </a:xfrm>
          <a:prstGeom prst="rect">
            <a:avLst/>
          </a:prstGeom>
        </p:spPr>
      </p:pic>
      <p:pic>
        <p:nvPicPr>
          <p:cNvPr id="801" name="Graphic 801" descr="Accurac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9952" y="3255264"/>
            <a:ext cx="356616" cy="356616"/>
          </a:xfrm>
          <a:prstGeom prst="rect">
            <a:avLst/>
          </a:prstGeom>
        </p:spPr>
      </p:pic>
      <p:pic>
        <p:nvPicPr>
          <p:cNvPr id="802" name="Graphic 802" descr="Efficienc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9952" y="5029200"/>
            <a:ext cx="356616" cy="356616"/>
          </a:xfrm>
          <a:prstGeom prst="rect">
            <a:avLst/>
          </a:prstGeom>
        </p:spPr>
      </p:pic>
      <p:pic>
        <p:nvPicPr>
          <p:cNvPr id="803" name="Graphic 803" descr="Perform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9952" y="6784848"/>
            <a:ext cx="356616" cy="356616"/>
          </a:xfrm>
          <a:prstGeom prst="rect">
            <a:avLst/>
          </a:prstGeom>
        </p:spPr>
      </p:pic>
      <p:pic>
        <p:nvPicPr>
          <p:cNvPr id="804" name="Graphic 804" descr="Risks and mitig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648" y="5815584"/>
            <a:ext cx="301752" cy="301752"/>
          </a:xfrm>
          <a:prstGeom prst="rect">
            <a:avLst/>
          </a:prstGeom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3F704B1A-72C8-8909-085A-B78E5B0F3727}"/>
              </a:ext>
            </a:extLst>
          </p:cNvPr>
          <p:cNvGrpSpPr/>
          <p:nvPr/>
        </p:nvGrpSpPr>
        <p:grpSpPr>
          <a:xfrm>
            <a:off x="14731999" y="2248"/>
            <a:ext cx="3312903" cy="1115352"/>
            <a:chOff x="0" y="0"/>
            <a:chExt cx="4499699" cy="2124672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AB28C358-5D29-F516-98A9-D9F3F0F88428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59165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line Pill"/>
          <p:cNvSpPr txBox="1"/>
          <p:nvPr/>
        </p:nvSpPr>
        <p:spPr>
          <a:xfrm>
            <a:off x="301752" y="256032"/>
            <a:ext cx="3026664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6324F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000" b="1" i="0">
                <a:solidFill>
                  <a:srgbClr val="3A4149"/>
                </a:solidFill>
                <a:latin typeface="Segoe UI"/>
              </a:rPr>
              <a:t>Perpetually Curious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3813048" y="201168"/>
            <a:ext cx="10671048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4600" b="1" i="0">
                <a:solidFill>
                  <a:srgbClr val="1C1C1E"/>
                </a:solidFill>
                <a:latin typeface="Segoe UI"/>
              </a:rPr>
              <a:t>RESEARCH AND REFERENCES</a:t>
            </a:r>
          </a:p>
        </p:txBody>
      </p:sp>
      <p:sp>
        <p:nvSpPr>
          <p:cNvPr id="4" name="Footer Bar"/>
          <p:cNvSpPr txBox="1"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@SIH Idea submission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6888968" y="990295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tIns="50800" rIns="127000" bIns="50800">
            <a:spAutoFit/>
          </a:bodyPr>
          <a:lstStyle/>
          <a:p>
            <a:pPr algn="r">
              <a:lnSpc>
                <a:spcPct val="96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" name="Concurrency Banner"/>
          <p:cNvSpPr txBox="1"/>
          <p:nvPr/>
        </p:nvSpPr>
        <p:spPr>
          <a:xfrm>
            <a:off x="3557016" y="1088136"/>
            <a:ext cx="11173968" cy="512064"/>
          </a:xfrm>
          <a:prstGeom prst="rect">
            <a:avLst/>
          </a:prstGeom>
          <a:solidFill>
            <a:srgbClr val="F8F6F3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700" b="1" i="0">
                <a:solidFill>
                  <a:srgbClr val="1C1C1E"/>
                </a:solidFill>
                <a:latin typeface="Segoe UI"/>
              </a:rPr>
              <a:t>Read the middle track first — what is designed but not built is stated, not implied</a:t>
            </a:r>
          </a:p>
        </p:txBody>
      </p:sp>
      <p:sp>
        <p:nvSpPr>
          <p:cNvPr id="7" name="Roadmap Panel"/>
          <p:cNvSpPr txBox="1"/>
          <p:nvPr/>
        </p:nvSpPr>
        <p:spPr>
          <a:xfrm>
            <a:off x="301752" y="1728216"/>
            <a:ext cx="17675352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8" name="BUILT AND MEASURED Icon Slot"/>
          <p:cNvSpPr txBox="1"/>
          <p:nvPr/>
        </p:nvSpPr>
        <p:spPr>
          <a:xfrm>
            <a:off x="512064" y="2084832"/>
            <a:ext cx="557784" cy="55778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9" name="BUILT AND MEASURED Label"/>
          <p:cNvSpPr txBox="1"/>
          <p:nvPr/>
        </p:nvSpPr>
        <p:spPr>
          <a:xfrm>
            <a:off x="1197864" y="2084832"/>
            <a:ext cx="1773936" cy="5577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4000"/>
              </a:lnSpc>
            </a:pPr>
            <a:r>
              <a:rPr sz="1600" b="1" i="0">
                <a:solidFill>
                  <a:srgbClr val="16324F"/>
                </a:solidFill>
                <a:latin typeface="Segoe UI"/>
              </a:rPr>
              <a:t>BUILT AND MEASURED</a:t>
            </a:r>
          </a:p>
        </p:txBody>
      </p:sp>
      <p:sp>
        <p:nvSpPr>
          <p:cNvPr id="10" name="STAGE 1 Card"/>
          <p:cNvSpPr txBox="1"/>
          <p:nvPr/>
        </p:nvSpPr>
        <p:spPr>
          <a:xfrm>
            <a:off x="3044952" y="1901952"/>
            <a:ext cx="2414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1" name="STAGE 1 Tag"/>
          <p:cNvSpPr txBox="1"/>
          <p:nvPr/>
        </p:nvSpPr>
        <p:spPr>
          <a:xfrm>
            <a:off x="3072384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3A4149"/>
                </a:solidFill>
                <a:latin typeface="Segoe UI"/>
              </a:rPr>
              <a:t>STAGE 1</a:t>
            </a:r>
          </a:p>
        </p:txBody>
      </p:sp>
      <p:sp>
        <p:nvSpPr>
          <p:cNvPr id="12" name="STAGE 1 Built"/>
          <p:cNvSpPr txBox="1"/>
          <p:nvPr/>
        </p:nvSpPr>
        <p:spPr>
          <a:xfrm>
            <a:off x="3072384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r">
              <a:lnSpc>
                <a:spcPct val="96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✓ built</a:t>
            </a:r>
          </a:p>
        </p:txBody>
      </p:sp>
      <p:sp>
        <p:nvSpPr>
          <p:cNvPr id="13" name="STAGE 1 Title"/>
          <p:cNvSpPr txBox="1"/>
          <p:nvPr/>
        </p:nvSpPr>
        <p:spPr>
          <a:xfrm>
            <a:off x="3072384" y="2286000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Ingest + CRS</a:t>
            </a:r>
          </a:p>
        </p:txBody>
      </p:sp>
      <p:sp>
        <p:nvSpPr>
          <p:cNvPr id="14" name="Arrow 00"/>
          <p:cNvSpPr txBox="1"/>
          <p:nvPr/>
        </p:nvSpPr>
        <p:spPr>
          <a:xfrm>
            <a:off x="5458968" y="2185416"/>
            <a:ext cx="48463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15" name="STAGE 2 Card"/>
          <p:cNvSpPr txBox="1"/>
          <p:nvPr/>
        </p:nvSpPr>
        <p:spPr>
          <a:xfrm>
            <a:off x="5943600" y="1901952"/>
            <a:ext cx="2414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16" name="STAGE 2 Tag"/>
          <p:cNvSpPr txBox="1"/>
          <p:nvPr/>
        </p:nvSpPr>
        <p:spPr>
          <a:xfrm>
            <a:off x="5971032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3A4149"/>
                </a:solidFill>
                <a:latin typeface="Segoe UI"/>
              </a:rPr>
              <a:t>STAGE 2</a:t>
            </a:r>
          </a:p>
        </p:txBody>
      </p:sp>
      <p:sp>
        <p:nvSpPr>
          <p:cNvPr id="17" name="STAGE 2 Built"/>
          <p:cNvSpPr txBox="1"/>
          <p:nvPr/>
        </p:nvSpPr>
        <p:spPr>
          <a:xfrm>
            <a:off x="5971032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r">
              <a:lnSpc>
                <a:spcPct val="96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✓ built</a:t>
            </a:r>
          </a:p>
        </p:txBody>
      </p:sp>
      <p:sp>
        <p:nvSpPr>
          <p:cNvPr id="18" name="STAGE 2 Title"/>
          <p:cNvSpPr txBox="1"/>
          <p:nvPr/>
        </p:nvSpPr>
        <p:spPr>
          <a:xfrm>
            <a:off x="5971032" y="2286000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Topology + schema</a:t>
            </a:r>
          </a:p>
        </p:txBody>
      </p:sp>
      <p:sp>
        <p:nvSpPr>
          <p:cNvPr id="19" name="Arrow 01"/>
          <p:cNvSpPr txBox="1"/>
          <p:nvPr/>
        </p:nvSpPr>
        <p:spPr>
          <a:xfrm>
            <a:off x="8357616" y="2185416"/>
            <a:ext cx="48463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20" name="STAGE 3 Card"/>
          <p:cNvSpPr txBox="1"/>
          <p:nvPr/>
        </p:nvSpPr>
        <p:spPr>
          <a:xfrm>
            <a:off x="8842248" y="1901952"/>
            <a:ext cx="2414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1" name="STAGE 3 Tag"/>
          <p:cNvSpPr txBox="1"/>
          <p:nvPr/>
        </p:nvSpPr>
        <p:spPr>
          <a:xfrm>
            <a:off x="8869680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3A4149"/>
                </a:solidFill>
                <a:latin typeface="Segoe UI"/>
              </a:rPr>
              <a:t>STAGE 3</a:t>
            </a:r>
          </a:p>
        </p:txBody>
      </p:sp>
      <p:sp>
        <p:nvSpPr>
          <p:cNvPr id="22" name="STAGE 3 Built"/>
          <p:cNvSpPr txBox="1"/>
          <p:nvPr/>
        </p:nvSpPr>
        <p:spPr>
          <a:xfrm>
            <a:off x="8869680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r">
              <a:lnSpc>
                <a:spcPct val="96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✓ built</a:t>
            </a:r>
          </a:p>
        </p:txBody>
      </p:sp>
      <p:sp>
        <p:nvSpPr>
          <p:cNvPr id="23" name="STAGE 3 Title"/>
          <p:cNvSpPr txBox="1"/>
          <p:nvPr/>
        </p:nvSpPr>
        <p:spPr>
          <a:xfrm>
            <a:off x="8869680" y="2286000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Match + fuse</a:t>
            </a:r>
          </a:p>
        </p:txBody>
      </p:sp>
      <p:sp>
        <p:nvSpPr>
          <p:cNvPr id="24" name="Arrow 02"/>
          <p:cNvSpPr txBox="1"/>
          <p:nvPr/>
        </p:nvSpPr>
        <p:spPr>
          <a:xfrm>
            <a:off x="11256264" y="2185416"/>
            <a:ext cx="48463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25" name="STAGE 4 Card"/>
          <p:cNvSpPr txBox="1"/>
          <p:nvPr/>
        </p:nvSpPr>
        <p:spPr>
          <a:xfrm>
            <a:off x="11731752" y="1901952"/>
            <a:ext cx="2414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26" name="STAGE 4 Tag"/>
          <p:cNvSpPr txBox="1"/>
          <p:nvPr/>
        </p:nvSpPr>
        <p:spPr>
          <a:xfrm>
            <a:off x="11759184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3A4149"/>
                </a:solidFill>
                <a:latin typeface="Segoe UI"/>
              </a:rPr>
              <a:t>STAGE 4</a:t>
            </a:r>
          </a:p>
        </p:txBody>
      </p:sp>
      <p:sp>
        <p:nvSpPr>
          <p:cNvPr id="27" name="STAGE 4 Built"/>
          <p:cNvSpPr txBox="1"/>
          <p:nvPr/>
        </p:nvSpPr>
        <p:spPr>
          <a:xfrm>
            <a:off x="11759184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r">
              <a:lnSpc>
                <a:spcPct val="96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✓ built</a:t>
            </a:r>
          </a:p>
        </p:txBody>
      </p:sp>
      <p:sp>
        <p:nvSpPr>
          <p:cNvPr id="28" name="STAGE 4 Title"/>
          <p:cNvSpPr txBox="1"/>
          <p:nvPr/>
        </p:nvSpPr>
        <p:spPr>
          <a:xfrm>
            <a:off x="11759184" y="2286000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Confidence + queue</a:t>
            </a:r>
          </a:p>
        </p:txBody>
      </p:sp>
      <p:sp>
        <p:nvSpPr>
          <p:cNvPr id="29" name="Arrow 03"/>
          <p:cNvSpPr txBox="1"/>
          <p:nvPr/>
        </p:nvSpPr>
        <p:spPr>
          <a:xfrm>
            <a:off x="14145768" y="2185416"/>
            <a:ext cx="48463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30" name="STAGE 5 Card"/>
          <p:cNvSpPr txBox="1"/>
          <p:nvPr/>
        </p:nvSpPr>
        <p:spPr>
          <a:xfrm>
            <a:off x="14630400" y="1901952"/>
            <a:ext cx="2414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1" name="STAGE 5 Tag"/>
          <p:cNvSpPr txBox="1"/>
          <p:nvPr/>
        </p:nvSpPr>
        <p:spPr>
          <a:xfrm>
            <a:off x="14657832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3A4149"/>
                </a:solidFill>
                <a:latin typeface="Segoe UI"/>
              </a:rPr>
              <a:t>STAGE 5</a:t>
            </a:r>
          </a:p>
        </p:txBody>
      </p:sp>
      <p:sp>
        <p:nvSpPr>
          <p:cNvPr id="32" name="STAGE 5 Built"/>
          <p:cNvSpPr txBox="1"/>
          <p:nvPr/>
        </p:nvSpPr>
        <p:spPr>
          <a:xfrm>
            <a:off x="14657832" y="198424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r">
              <a:lnSpc>
                <a:spcPct val="96000"/>
              </a:lnSpc>
            </a:pPr>
            <a:r>
              <a:rPr sz="1300" b="0" i="0">
                <a:solidFill>
                  <a:srgbClr val="3A4149"/>
                </a:solidFill>
                <a:latin typeface="Segoe UI"/>
              </a:rPr>
              <a:t>✓ built</a:t>
            </a:r>
          </a:p>
        </p:txBody>
      </p:sp>
      <p:sp>
        <p:nvSpPr>
          <p:cNvPr id="33" name="STAGE 5 Title"/>
          <p:cNvSpPr txBox="1"/>
          <p:nvPr/>
        </p:nvSpPr>
        <p:spPr>
          <a:xfrm>
            <a:off x="14657832" y="2286000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Publish + ledger</a:t>
            </a:r>
          </a:p>
        </p:txBody>
      </p:sp>
      <p:sp>
        <p:nvSpPr>
          <p:cNvPr id="34" name="DESIGNED, NOT BUILT Icon Slot"/>
          <p:cNvSpPr txBox="1"/>
          <p:nvPr/>
        </p:nvSpPr>
        <p:spPr>
          <a:xfrm>
            <a:off x="512064" y="3429000"/>
            <a:ext cx="557784" cy="557784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5" name="DESIGNED, NOT BUILT Label"/>
          <p:cNvSpPr txBox="1"/>
          <p:nvPr/>
        </p:nvSpPr>
        <p:spPr>
          <a:xfrm>
            <a:off x="1197864" y="3429000"/>
            <a:ext cx="1773936" cy="5577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4000"/>
              </a:lnSpc>
            </a:pPr>
            <a:r>
              <a:rPr sz="1600" b="1" i="0">
                <a:solidFill>
                  <a:srgbClr val="1C1C1E"/>
                </a:solidFill>
                <a:latin typeface="Segoe UI"/>
              </a:rPr>
              <a:t>DESIGNED, NOT BUILT</a:t>
            </a:r>
          </a:p>
        </p:txBody>
      </p:sp>
      <p:sp>
        <p:nvSpPr>
          <p:cNvPr id="36" name="ITEM A Card"/>
          <p:cNvSpPr txBox="1"/>
          <p:nvPr/>
        </p:nvSpPr>
        <p:spPr>
          <a:xfrm>
            <a:off x="5943600" y="3255264"/>
            <a:ext cx="2414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37" name="ITEM A Tag"/>
          <p:cNvSpPr txBox="1"/>
          <p:nvPr/>
        </p:nvSpPr>
        <p:spPr>
          <a:xfrm>
            <a:off x="5971032" y="3337560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3A4149"/>
                </a:solidFill>
                <a:latin typeface="Segoe UI"/>
              </a:rPr>
              <a:t>ITEM A</a:t>
            </a:r>
          </a:p>
        </p:txBody>
      </p:sp>
      <p:sp>
        <p:nvSpPr>
          <p:cNvPr id="38" name="ITEM A Title"/>
          <p:cNvSpPr txBox="1"/>
          <p:nvPr/>
        </p:nvSpPr>
        <p:spPr>
          <a:xfrm>
            <a:off x="5971032" y="3639312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STAC catalogue</a:t>
            </a:r>
          </a:p>
        </p:txBody>
      </p:sp>
      <p:sp>
        <p:nvSpPr>
          <p:cNvPr id="39" name="Arrow 10"/>
          <p:cNvSpPr txBox="1"/>
          <p:nvPr/>
        </p:nvSpPr>
        <p:spPr>
          <a:xfrm>
            <a:off x="8357616" y="3538728"/>
            <a:ext cx="48463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40" name="ITEM B Card"/>
          <p:cNvSpPr txBox="1"/>
          <p:nvPr/>
        </p:nvSpPr>
        <p:spPr>
          <a:xfrm>
            <a:off x="8842248" y="3255264"/>
            <a:ext cx="2414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1" name="ITEM B Tag"/>
          <p:cNvSpPr txBox="1"/>
          <p:nvPr/>
        </p:nvSpPr>
        <p:spPr>
          <a:xfrm>
            <a:off x="8869680" y="3337560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3A4149"/>
                </a:solidFill>
                <a:latin typeface="Segoe UI"/>
              </a:rPr>
              <a:t>ITEM B</a:t>
            </a:r>
          </a:p>
        </p:txBody>
      </p:sp>
      <p:sp>
        <p:nvSpPr>
          <p:cNvPr id="42" name="ITEM B Title"/>
          <p:cNvSpPr txBox="1"/>
          <p:nvPr/>
        </p:nvSpPr>
        <p:spPr>
          <a:xfrm>
            <a:off x="8869680" y="3639312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Subscription bus</a:t>
            </a:r>
          </a:p>
        </p:txBody>
      </p:sp>
      <p:sp>
        <p:nvSpPr>
          <p:cNvPr id="43" name="Arrow 11"/>
          <p:cNvSpPr txBox="1"/>
          <p:nvPr/>
        </p:nvSpPr>
        <p:spPr>
          <a:xfrm>
            <a:off x="11256264" y="3538728"/>
            <a:ext cx="484632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2200" b="1" i="0">
                <a:solidFill>
                  <a:srgbClr val="3A4149"/>
                </a:solidFill>
                <a:latin typeface="Segoe UI"/>
              </a:rPr>
              <a:t>→</a:t>
            </a:r>
          </a:p>
        </p:txBody>
      </p:sp>
      <p:sp>
        <p:nvSpPr>
          <p:cNvPr id="44" name="ITEM C Card"/>
          <p:cNvSpPr txBox="1"/>
          <p:nvPr/>
        </p:nvSpPr>
        <p:spPr>
          <a:xfrm>
            <a:off x="11731752" y="3255264"/>
            <a:ext cx="2414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5" name="ITEM C Tag"/>
          <p:cNvSpPr txBox="1"/>
          <p:nvPr/>
        </p:nvSpPr>
        <p:spPr>
          <a:xfrm>
            <a:off x="11759184" y="3337560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3A4149"/>
                </a:solidFill>
                <a:latin typeface="Segoe UI"/>
              </a:rPr>
              <a:t>ITEM C</a:t>
            </a:r>
          </a:p>
        </p:txBody>
      </p:sp>
      <p:sp>
        <p:nvSpPr>
          <p:cNvPr id="46" name="ITEM C Title"/>
          <p:cNvSpPr txBox="1"/>
          <p:nvPr/>
        </p:nvSpPr>
        <p:spPr>
          <a:xfrm>
            <a:off x="11759184" y="3639312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Adjudication write path</a:t>
            </a:r>
          </a:p>
        </p:txBody>
      </p:sp>
      <p:sp>
        <p:nvSpPr>
          <p:cNvPr id="47" name="DEPLOYMENT PATH Icon Slot"/>
          <p:cNvSpPr txBox="1"/>
          <p:nvPr/>
        </p:nvSpPr>
        <p:spPr>
          <a:xfrm>
            <a:off x="512064" y="4626864"/>
            <a:ext cx="557784" cy="557784"/>
          </a:xfrm>
          <a:prstGeom prst="rect">
            <a:avLst/>
          </a:prstGeom>
          <a:solidFill>
            <a:srgbClr val="E2711D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48" name="DEPLOYMENT PATH Label"/>
          <p:cNvSpPr txBox="1"/>
          <p:nvPr/>
        </p:nvSpPr>
        <p:spPr>
          <a:xfrm>
            <a:off x="1197864" y="4626864"/>
            <a:ext cx="1773936" cy="5577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4000"/>
              </a:lnSpc>
            </a:pPr>
            <a:r>
              <a:rPr sz="1600" b="1" i="0">
                <a:solidFill>
                  <a:srgbClr val="E2711D"/>
                </a:solidFill>
                <a:latin typeface="Segoe UI"/>
              </a:rPr>
              <a:t>DEPLOYMENT PATH</a:t>
            </a:r>
          </a:p>
        </p:txBody>
      </p:sp>
      <p:sp>
        <p:nvSpPr>
          <p:cNvPr id="49" name="NEXT 1 Card"/>
          <p:cNvSpPr txBox="1"/>
          <p:nvPr/>
        </p:nvSpPr>
        <p:spPr>
          <a:xfrm>
            <a:off x="5943600" y="4443984"/>
            <a:ext cx="2414016" cy="914400"/>
          </a:xfrm>
          <a:prstGeom prst="rect">
            <a:avLst/>
          </a:prstGeom>
          <a:solidFill>
            <a:srgbClr val="FBEEDD"/>
          </a:solidFill>
          <a:ln w="19050">
            <a:solidFill>
              <a:srgbClr val="E2711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0" name="NEXT 1 Tag"/>
          <p:cNvSpPr txBox="1"/>
          <p:nvPr/>
        </p:nvSpPr>
        <p:spPr>
          <a:xfrm>
            <a:off x="5971032" y="4526280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300" b="1" i="0">
                <a:solidFill>
                  <a:srgbClr val="E2711D"/>
                </a:solidFill>
                <a:latin typeface="Segoe UI"/>
              </a:rPr>
              <a:t>NEXT 1</a:t>
            </a:r>
          </a:p>
        </p:txBody>
      </p:sp>
      <p:sp>
        <p:nvSpPr>
          <p:cNvPr id="51" name="NEXT 1 Title"/>
          <p:cNvSpPr txBox="1"/>
          <p:nvPr/>
        </p:nvSpPr>
        <p:spPr>
          <a:xfrm>
            <a:off x="5971032" y="4828032"/>
            <a:ext cx="2359152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l">
              <a:lnSpc>
                <a:spcPct val="96000"/>
              </a:lnSpc>
            </a:pPr>
            <a:r>
              <a:rPr sz="1900" b="1" i="0">
                <a:solidFill>
                  <a:srgbClr val="1C1C1E"/>
                </a:solidFill>
                <a:latin typeface="Segoe UI"/>
              </a:rPr>
              <a:t>Ground-truth control survey</a:t>
            </a:r>
          </a:p>
        </p:txBody>
      </p:sp>
      <p:sp>
        <p:nvSpPr>
          <p:cNvPr id="52" name="Track Div 1"/>
          <p:cNvSpPr txBox="1"/>
          <p:nvPr/>
        </p:nvSpPr>
        <p:spPr>
          <a:xfrm>
            <a:off x="512064" y="3044952"/>
            <a:ext cx="17273016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3" name="Track Div 2"/>
          <p:cNvSpPr txBox="1"/>
          <p:nvPr/>
        </p:nvSpPr>
        <p:spPr>
          <a:xfrm>
            <a:off x="512064" y="4315968"/>
            <a:ext cx="17273016" cy="9144"/>
          </a:xfrm>
          <a:prstGeom prst="rect">
            <a:avLst/>
          </a:prstGeom>
          <a:solidFill>
            <a:srgbClr val="E0E6E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4" name="Uplink Designed"/>
          <p:cNvSpPr/>
          <p:nvPr/>
        </p:nvSpPr>
        <p:spPr>
          <a:xfrm>
            <a:off x="12829032" y="2843784"/>
            <a:ext cx="228600" cy="402336"/>
          </a:xfrm>
          <a:prstGeom prst="upArrow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th Link H"/>
          <p:cNvSpPr/>
          <p:nvPr/>
        </p:nvSpPr>
        <p:spPr>
          <a:xfrm>
            <a:off x="8357616" y="4892040"/>
            <a:ext cx="4517136" cy="27432"/>
          </a:xfrm>
          <a:prstGeom prst="rect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th Link V"/>
          <p:cNvSpPr/>
          <p:nvPr/>
        </p:nvSpPr>
        <p:spPr>
          <a:xfrm>
            <a:off x="12856464" y="4370832"/>
            <a:ext cx="27432" cy="548640"/>
          </a:xfrm>
          <a:prstGeom prst="rect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Uplink Path"/>
          <p:cNvSpPr/>
          <p:nvPr/>
        </p:nvSpPr>
        <p:spPr>
          <a:xfrm>
            <a:off x="12746736" y="4142232"/>
            <a:ext cx="228600" cy="283464"/>
          </a:xfrm>
          <a:prstGeom prst="upArrow">
            <a:avLst/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ATA SOURCES AND STANDARDS Card"/>
          <p:cNvSpPr txBox="1"/>
          <p:nvPr/>
        </p:nvSpPr>
        <p:spPr>
          <a:xfrm>
            <a:off x="301752" y="5641848"/>
            <a:ext cx="5586984" cy="3758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59" name="DATA SOURCES AND STANDARDS Header"/>
          <p:cNvSpPr txBox="1"/>
          <p:nvPr/>
        </p:nvSpPr>
        <p:spPr>
          <a:xfrm>
            <a:off x="301752" y="5641848"/>
            <a:ext cx="5586984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DATA SOURCES AND STANDARDS</a:t>
            </a:r>
          </a:p>
        </p:txBody>
      </p:sp>
      <p:sp>
        <p:nvSpPr>
          <p:cNvPr id="60" name="METHOD REFERENCES Card"/>
          <p:cNvSpPr txBox="1"/>
          <p:nvPr/>
        </p:nvSpPr>
        <p:spPr>
          <a:xfrm>
            <a:off x="6199632" y="5641848"/>
            <a:ext cx="5586984" cy="3758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61" name="METHOD REFERENCES Header"/>
          <p:cNvSpPr txBox="1"/>
          <p:nvPr/>
        </p:nvSpPr>
        <p:spPr>
          <a:xfrm>
            <a:off x="6199632" y="5641848"/>
            <a:ext cx="5586984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METHOD REFERENCES</a:t>
            </a:r>
          </a:p>
        </p:txBody>
      </p:sp>
      <p:sp>
        <p:nvSpPr>
          <p:cNvPr id="62" name="METHOD &amp; STATUTORY REFERENCES (continued) Card"/>
          <p:cNvSpPr txBox="1"/>
          <p:nvPr/>
        </p:nvSpPr>
        <p:spPr>
          <a:xfrm>
            <a:off x="12088368" y="5641848"/>
            <a:ext cx="5888736" cy="3758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1ED"/>
            </a:solidFill>
          </a:ln>
        </p:spPr>
        <p:txBody>
          <a:bodyPr wrap="square" anchor="ctr" lIns="101600" tIns="76200" rIns="101600" bIns="76200">
            <a:spAutoFit/>
          </a:bodyPr>
          <a:lstStyle/>
          <a:p/>
        </p:txBody>
      </p:sp>
      <p:sp>
        <p:nvSpPr>
          <p:cNvPr id="63" name="METHOD &amp; STATUTORY REFERENCES (continued) Header"/>
          <p:cNvSpPr txBox="1"/>
          <p:nvPr/>
        </p:nvSpPr>
        <p:spPr>
          <a:xfrm>
            <a:off x="12088368" y="5641848"/>
            <a:ext cx="5888736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96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METHOD &amp; STATUTORY REFERENCES (continued)</a:t>
            </a:r>
          </a:p>
        </p:txBody>
      </p:sp>
      <p:sp>
        <p:nvSpPr>
          <p:cNvPr id="64" name="DATA SOURCES AND STANDARDS Body"/>
          <p:cNvSpPr txBox="1"/>
          <p:nvPr/>
        </p:nvSpPr>
        <p:spPr>
          <a:xfrm>
            <a:off x="356616" y="6099048"/>
            <a:ext cx="5486400" cy="325526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76200" bIns="76200">
            <a:spAutoFit/>
          </a:bodyPr>
          <a:lstStyle/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TNGIS Tamil Nadu cadastrals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tngis.tn.gov.in · CC0-1.0 · 6,017,242 parcels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NCSCM coastal cadastrals (MoEFCC)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CC0-1.0 · 220,668 parcels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Greater Chennai Corporation footprints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via TNGIS · CC0-1.0 · 964,053 footprints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Google Open Buildings v3, India 2023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CC-BY-4.0 · research.google/open-buildings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AMRUT / Bhuvan urban buildings (NRSC)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bhuvan.nrsc.gov.in · CC0-1.0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Geobasis NRW DOM1 calibrated float DSM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dl-de/zero-2-0 · 1 m grid, orthometric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Local Government Directory (MoPR)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lgdirectory.gov.in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OGC API - Features Part 1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ISO 19168-1 · GeoJSON RFC 7946 · CityJSON 1.1 · COG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ISO 19107 · 19115 · 19157 · 19125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geometry · metadata · data quality · simple features</a:t>
            </a:r>
          </a:p>
        </p:txBody>
      </p:sp>
      <p:sp>
        <p:nvSpPr>
          <p:cNvPr id="65" name="METHOD REFERENCES Body"/>
          <p:cNvSpPr txBox="1"/>
          <p:nvPr/>
        </p:nvSpPr>
        <p:spPr>
          <a:xfrm>
            <a:off x="6254496" y="6099048"/>
            <a:ext cx="5486400" cy="325526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76200" bIns="76200">
            <a:spAutoFit/>
          </a:bodyPr>
          <a:lstStyle/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Dempster (1967)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Upper and lower probabilities induced by a multivalued mapping. Ann. Math. Statist. 38(2):325–339. doi.org/10.1214/aoms/1177698950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Shafer (1976)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A Mathematical Theory of Evidence. Princeton University Press.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Kuhn (1955)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The Hungarian method for the assignment problem. Naval Research Logistics Quarterly 2:83–97. doi.org/10.1002/nav.3800020109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Ratner et al. (2017)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Snorkel: rapid training data creation with weak supervision. PVLDB 11(3):269–282. doi.org/10.14778/3157794.3157797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Friedman (2001)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Greedy function approximation: a gradient boosting machine. Ann. Statist. 29(5):1189–1232.</a:t>
            </a:r>
          </a:p>
        </p:txBody>
      </p:sp>
      <p:sp>
        <p:nvSpPr>
          <p:cNvPr id="66" name="METHOD &amp; STATUTORY REFERENCES (continued) Body"/>
          <p:cNvSpPr txBox="1"/>
          <p:nvPr/>
        </p:nvSpPr>
        <p:spPr>
          <a:xfrm>
            <a:off x="12143232" y="6099048"/>
            <a:ext cx="5788152" cy="325526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tIns="76200" rIns="76200" bIns="76200">
            <a:spAutoFit/>
          </a:bodyPr>
          <a:lstStyle/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Zhang et al. (2003)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A progressive morphological filter for removing nonground measurements from airborne LiDAR. IEEE TGRS 41(4):872–882. doi.org/10.1109/TGRS.2003.810682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Zitová &amp; Flusser (2003)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Image registration methods: a survey. Image and Vision Computing 21(11):977–1000. doi.org/10.1016/S0262-8856(03)00137-9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Baarda (1968)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A testing procedure for use in geodetic networks. Netherlands Geodetic Commission, Publ. on Geodesy 2(5).</a:t>
            </a:r>
          </a:p>
          <a:p>
            <a:pPr algn="l" marL="152400" indent="-152400">
              <a:lnSpc>
                <a:spcPct val="96000"/>
              </a:lnSpc>
              <a:spcBef>
                <a:spcPts val="400"/>
              </a:spcBef>
              <a:buClr>
                <a:srgbClr val="16324F"/>
              </a:buClr>
              <a:buFont typeface="Arial"/>
              <a:buChar char="•"/>
            </a:pPr>
            <a:r>
              <a:rPr sz="1200" b="1" i="0">
                <a:solidFill>
                  <a:srgbClr val="1C1C1E"/>
                </a:solidFill>
                <a:latin typeface="Segoe UI"/>
              </a:rPr>
              <a:t>Programme &amp; statute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 — </a:t>
            </a:r>
            <a:r>
              <a:rPr sz="1200" b="0" i="0">
                <a:solidFill>
                  <a:srgbClr val="3A4149"/>
                </a:solidFill>
                <a:latin typeface="Segoe UI"/>
              </a:rPr>
              <a:t>DILRMP · NAKSHA (DoLR) · National Geospatial Policy 2022 · DPDP Act 2023 · TN CDBR 2019 · TN Land Encroachment Act 1905 · Registration Act 1908 · Survey of India CORS</a:t>
            </a:r>
          </a:p>
        </p:txBody>
      </p:sp>
      <p:pic>
        <p:nvPicPr>
          <p:cNvPr id="165" name="Graphic 165" descr="Critical path tr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" y="2194560"/>
            <a:ext cx="329184" cy="329184"/>
          </a:xfrm>
          <a:prstGeom prst="rect">
            <a:avLst/>
          </a:prstGeom>
        </p:spPr>
      </p:pic>
      <p:pic>
        <p:nvPicPr>
          <p:cNvPr id="166" name="Graphic 166" descr="Factorization tr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92" y="3547872"/>
            <a:ext cx="329184" cy="329184"/>
          </a:xfrm>
          <a:prstGeom prst="rect">
            <a:avLst/>
          </a:prstGeom>
        </p:spPr>
      </p:pic>
      <p:pic>
        <p:nvPicPr>
          <p:cNvPr id="167" name="Graphic 167" descr="GPU tra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92" y="4736592"/>
            <a:ext cx="329184" cy="329184"/>
          </a:xfrm>
          <a:prstGeom prst="rect">
            <a:avLst/>
          </a:prstGeom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4FFE2F07-F3E8-4A10-2257-B21F0BEE938A}"/>
              </a:ext>
            </a:extLst>
          </p:cNvPr>
          <p:cNvGrpSpPr/>
          <p:nvPr/>
        </p:nvGrpSpPr>
        <p:grpSpPr>
          <a:xfrm>
            <a:off x="14731999" y="2248"/>
            <a:ext cx="3312903" cy="1115352"/>
            <a:chOff x="0" y="0"/>
            <a:chExt cx="4499699" cy="2124672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F1502E01-F11C-3B9A-4CF8-EB47F28D2793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780744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EECDA4-8165-0B42-816B-27ED29BC3C6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8d0aea0-bfcd-4197-a014-910b2b9d9e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2564</Words>
  <Application>Microsoft Macintosh PowerPoint</Application>
  <PresentationFormat>Custom</PresentationFormat>
  <Paragraphs>498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Bold</vt:lpstr>
      <vt:lpstr>Segoe UI</vt:lpstr>
      <vt:lpstr>Calibri</vt:lpstr>
      <vt:lpstr>Garamond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SANKHYA_SIH2026.pptx</dc:title>
  <cp:lastModifiedBy>Trijal P G</cp:lastModifiedBy>
  <cp:revision>4</cp:revision>
  <dcterms:created xsi:type="dcterms:W3CDTF">2006-08-16T00:00:00Z</dcterms:created>
  <dcterms:modified xsi:type="dcterms:W3CDTF">2026-09-01T03:26:36Z</dcterms:modified>
  <dc:identifier>DAHTSHCTpI8</dc:identifier>
</cp:coreProperties>
</file>